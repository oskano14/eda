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1" r:id="rId12"/>
    <p:sldId id="262" r:id="rId13"/>
    <p:sldId id="263" r:id="rId1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Part de la base (%)</c:v>
                </c:pt>
              </c:strCache>
            </c:strRef>
          </c:tx>
          <c:spPr>
            <a:solidFill>
              <a:srgbClr val="E8B4BC"/>
            </a:solidFill>
            <a:effectLst/>
          </c:spPr>
          <c:invertIfNegative val="0"/>
          <c:dLbls>
            <c:numFmt formatCode="0.0" sourceLinked="0"/>
            <c:txPr>
              <a:bodyPr/>
              <a:lstStyle/>
              <a:p>
                <a:pPr>
                  <a:defRPr b="0" i="0" strike="noStrike" sz="1000" u="none">
                    <a:solidFill>
                      <a:srgbClr val="3D1B3D"/>
                    </a:solidFill>
                    <a:latin typeface="Arial"/>
                  </a:defRPr>
                </a:pPr>
              </a:p>
            </c:txPr>
            <c:showLegendKey val="0"/>
            <c:showVal val="1"/>
            <c:showCatName val="0"/>
            <c:showSerName val="0"/>
            <c:showPercent val="0"/>
            <c:showBubbleSize val="0"/>
            <c:showLeaderLines val="0"/>
          </c:dLbls>
          <c:cat>
            <c:multiLvlStrRef>
              <c:f>Sheet1!$A$2:$A$4</c:f>
              <c:multiLvlStrCache>
                <c:ptCount val="3"/>
                <c:lvl>
                  <c:pt idx="0">
                    <c:v>Perdus</c:v>
                  </c:pt>
                  <c:pt idx="1">
                    <c:v>À risque</c:v>
                  </c:pt>
                  <c:pt idx="2">
                    <c:v>Champions</c:v>
                  </c:pt>
                </c:lvl>
              </c:multiLvlStrCache>
            </c:multiLvlStrRef>
          </c:cat>
          <c:val>
            <c:numRef>
              <c:f>Sheet1!$B$2:$B$4</c:f>
              <c:numCache>
                <c:formatCode>General</c:formatCode>
                <c:ptCount val="3"/>
                <c:pt idx="0">
                  <c:v>21.8</c:v>
                </c:pt>
                <c:pt idx="1">
                  <c:v>9.6</c:v>
                </c:pt>
                <c:pt idx="2">
                  <c:v>19</c:v>
                </c:pt>
              </c:numCache>
            </c:numRef>
          </c:val>
        </c:ser>
        <c:ser>
          <c:idx val="1"/>
          <c:order val="1"/>
          <c:tx>
            <c:strRef>
              <c:f>Sheet1!$C$1</c:f>
              <c:strCache>
                <c:ptCount val="1"/>
                <c:pt idx="0">
                  <c:v>Part du CA net (%)</c:v>
                </c:pt>
              </c:strCache>
            </c:strRef>
          </c:tx>
          <c:spPr>
            <a:solidFill>
              <a:srgbClr val="C9184A"/>
            </a:solidFill>
            <a:effectLst/>
          </c:spPr>
          <c:invertIfNegative val="0"/>
          <c:dLbls>
            <c:numFmt formatCode="0.0" sourceLinked="0"/>
            <c:txPr>
              <a:bodyPr/>
              <a:lstStyle/>
              <a:p>
                <a:pPr>
                  <a:defRPr b="0" i="0" strike="noStrike" sz="1000" u="none">
                    <a:solidFill>
                      <a:srgbClr val="3D1B3D"/>
                    </a:solidFill>
                    <a:latin typeface="Arial"/>
                  </a:defRPr>
                </a:pPr>
              </a:p>
            </c:txPr>
            <c:showLegendKey val="0"/>
            <c:showVal val="1"/>
            <c:showCatName val="0"/>
            <c:showSerName val="0"/>
            <c:showPercent val="0"/>
            <c:showBubbleSize val="0"/>
            <c:showLeaderLines val="0"/>
          </c:dLbls>
          <c:cat>
            <c:multiLvlStrRef>
              <c:f>Sheet1!$A$2:$A$4</c:f>
              <c:multiLvlStrCache>
                <c:ptCount val="3"/>
                <c:lvl>
                  <c:pt idx="0">
                    <c:v>Perdus</c:v>
                  </c:pt>
                  <c:pt idx="1">
                    <c:v>À risque</c:v>
                  </c:pt>
                  <c:pt idx="2">
                    <c:v>Champions</c:v>
                  </c:pt>
                </c:lvl>
              </c:multiLvlStrCache>
            </c:multiLvlStrRef>
          </c:cat>
          <c:val>
            <c:numRef>
              <c:f>Sheet1!$C$2:$C$4</c:f>
              <c:numCache>
                <c:formatCode>General</c:formatCode>
                <c:ptCount val="3"/>
                <c:pt idx="0">
                  <c:v>2</c:v>
                </c:pt>
                <c:pt idx="1">
                  <c:v>8.1</c:v>
                </c:pt>
                <c:pt idx="2">
                  <c:v>61.7</c:v>
                </c:pt>
              </c:numCache>
            </c:numRef>
          </c:val>
        </c:ser>
        <c:dLbls>
          <c:numFmt formatCode="0.0" sourceLinked="0"/>
          <c:txPr>
            <a:bodyPr/>
            <a:lstStyle/>
            <a:p>
              <a:pPr>
                <a:defRPr b="0" i="0" strike="noStrike" sz="1000" u="none">
                  <a:solidFill>
                    <a:srgbClr val="3D1B3D"/>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D1B3D"/>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8A6E82"/>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Aujourd'hui, un problème concret : sur nos 49 184 clients, 4 704 sont a risque. Panier median de 355e sur 4 commandes, un profil proche de nos clients fideles. Sauf qu'ils n'ont rien achete depuis 454 jours. Sans action, ces 3,2 millions d'euros de chiffre d'affaires historique risquent de basculer vers la categorie perdus, qui ne pese plus que 2% de notre CA. La question : peut-on les faire revenir avant qu'il ne soit trop tard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Trois choses ressortent des donnees. D'abord, ces clients achetent comme nos fideles, ce qui a change ce n'est pas leur interet pour la marque, c'est uniquement leur activite recente. Ensuite, sans action, ils suivent la meme pente qui a vide la valeur des clients perdus, sauf qu'ici on parle d'une valeur individuelle bien plus elevee a sauver. Enfin, on ne peut pas personnaliser sur leurs preferences declarees, a peine 38% les ont renseignees, mais on a un levier fiable et disponible a 100% : leur historique d'achat. (Les chiffres derriere ces trois points arrivent sur la slide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Voici les chiffres derriere les trois constats precedents (montrer le graphique). Les perdus representent 21,8% de notre base mais ne pesent plus que 2% du CA net : c'est la pente que je mentionnais. Les a risque, eux, sont 9,6% de la base pour 8,1% du CA, une contribution largement proportionnelle, donc une valeur encore intacte. Le tableau a cote confirme l'ecart : sur frequence et montant median, 7 commandes et 498 euros, les a risque ressemblent aux fideles ; seule la recence les rapproche des perdus, 454 jours contre 647 pour les perdus et 181 pour les fideles. Concretement, ce sont des clients fideles qui n'ont plus achete depuis longtemps, pas des clients qui ont perdu de la valeur. La fenetre d'action est encore ouverte.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15] Notre recommandation : cibler ces 4 704 clients avec une relance en deux temps. A J0, un email qui rappelle le produit ou la routine qu'ils appreciaient. A J+7, si pas de reaction, un avantage limite, proportionne a leur valeur passee. On arrete des conversion ou opposition, maximum deux contacts sur 14 jours. Notre hypothese : cet email personnalise peut reactiver une partie d'entre eux. Mais le RFM decrit le passe, pas l'avenir, d'ou le test A/B, groupe test contre groupe temoin, mesure sur le taux de reactivation a 30 jours.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sec] Un gain incrémental de cinq points représenterait environ 235 clients réactivés et 32 000 euros de chiffre d'affaires brut sur la base d'une commande moyenne historique de 137 euros. Ce n'est pas une prévision : le groupe témoin doit mesurer le gain réel. La décision demandée est de valider le pilote, son protocole et son seuil de succès.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Les KPI ne désignent pas tous le même gagnant. Winter Promo a le meilleur ROAS, 5,35, et le CPA le plus bas, 9,45 euros. Spring Launch a le meilleur taux de conversion, 76,5 %, et le CAC le plus faible, 573 euros. Le choix dépend donc de l'objectif : réachat, acquisition ou revenu. Summer Sale est le signal faible à investiguer avant reconduction.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15] Le parcours moyen comporte cinq contacts et 99 % des parcours convertis sont multicanaux. En first touch, display et social ouvrent 82 % du chiffre d'affaires. En last touch, ils disparaissent entièrement, tandis que l'affiliation et le retargeting captent 53,1 %. Une lecture uniquement au dernier clic ferait couper les canaux qui créent la découverte.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Notre recommandation n'est pas de déplacer mécaniquement le budget selon une colonne. D'abord, auditer l'affiliation, qui concentre 83,7 % des coûts. Ensuite, protéger un budget test pour display et social. Enfin, mesurer email et retargeting avec des groupes témoins. Avant tout arbitrage majeur, il faut réconcilier la définition du revenu entre campaigns.csv et les factures.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1B3D"/>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65760"/>
          </a:xfrm>
          <a:prstGeom prst="rect">
            <a:avLst/>
          </a:prstGeom>
          <a:noFill/>
          <a:ln/>
        </p:spPr>
        <p:txBody>
          <a:bodyPr wrap="square" lIns="0" tIns="0" rIns="0" bIns="0" rtlCol="0" anchor="ctr"/>
          <a:lstStyle/>
          <a:p>
            <a:pPr indent="0" marL="0">
              <a:buNone/>
            </a:pPr>
            <a:r>
              <a:rPr lang="en-US" sz="1200" spc="200" kern="0" dirty="0">
                <a:solidFill>
                  <a:srgbClr val="E8B4BC"/>
                </a:solidFill>
                <a:latin typeface="Calibri" pitchFamily="34" charset="0"/>
                <a:ea typeface="Calibri" pitchFamily="34" charset="-122"/>
                <a:cs typeface="Calibri" pitchFamily="34" charset="-120"/>
              </a:rPr>
              <a:t>LUMINA &amp; CO  ·  RESTITUTION CMO  ·  49 184 CLIENTS</a:t>
            </a:r>
            <a:endParaRPr lang="en-US" sz="1200" dirty="0"/>
          </a:p>
        </p:txBody>
      </p:sp>
      <p:sp>
        <p:nvSpPr>
          <p:cNvPr id="3" name="Text 1"/>
          <p:cNvSpPr txBox="1"/>
          <p:nvPr/>
        </p:nvSpPr>
        <p:spPr>
          <a:xfrm>
            <a:off x="548640" y="960120"/>
            <a:ext cx="11094415" cy="1005840"/>
          </a:xfrm>
          <a:prstGeom prst="rect">
            <a:avLst/>
          </a:prstGeom>
          <a:noFill/>
          <a:ln/>
        </p:spPr>
        <p:txBody>
          <a:bodyPr wrap="square" lIns="0" tIns="0" rIns="0" bIns="0" rtlCol="0" anchor="ctr"/>
          <a:lstStyle/>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Une valeur historique est en train de nous échapper</a:t>
            </a:r>
            <a:endParaRPr lang="en-US" sz="3400" dirty="0"/>
          </a:p>
        </p:txBody>
      </p:sp>
      <p:sp>
        <p:nvSpPr>
          <p:cNvPr id="4" name="Shape 2"/>
          <p:cNvSpPr/>
          <p:nvPr/>
        </p:nvSpPr>
        <p:spPr>
          <a:xfrm>
            <a:off x="838048" y="2331720"/>
            <a:ext cx="3291840" cy="1737360"/>
          </a:xfrm>
          <a:prstGeom prst="roundRect">
            <a:avLst>
              <a:gd name="adj" fmla="val 4211"/>
            </a:avLst>
          </a:prstGeom>
          <a:solidFill>
            <a:srgbClr val="5C3A5C"/>
          </a:solidFill>
          <a:ln/>
        </p:spPr>
        <p:txBody>
          <a:bodyPr/>
          <a:p/>
        </p:txBody>
      </p:sp>
      <p:sp>
        <p:nvSpPr>
          <p:cNvPr id="5" name="Text 3"/>
          <p:cNvSpPr txBox="1"/>
          <p:nvPr/>
        </p:nvSpPr>
        <p:spPr>
          <a:xfrm>
            <a:off x="838048" y="2487168"/>
            <a:ext cx="3291840" cy="685800"/>
          </a:xfrm>
          <a:prstGeom prst="rect">
            <a:avLst/>
          </a:prstGeom>
          <a:noFill/>
          <a:ln/>
        </p:spPr>
        <p:txBody>
          <a:bodyPr wrap="square" lIns="0" tIns="0" rIns="0" bIns="0" rtlCol="0" anchor="ctr"/>
          <a:lstStyle/>
          <a:p>
            <a:pPr algn="ctr" indent="0" marL="0">
              <a:buNone/>
            </a:pPr>
            <a:r>
              <a:rPr lang="en-US" sz="3400" b="1" dirty="0">
                <a:solidFill>
                  <a:srgbClr val="F2A6BB"/>
                </a:solidFill>
                <a:latin typeface="Cambria" pitchFamily="34" charset="0"/>
                <a:ea typeface="Cambria" pitchFamily="34" charset="-122"/>
                <a:cs typeface="Cambria" pitchFamily="34" charset="-120"/>
              </a:rPr>
              <a:t>4 704</a:t>
            </a:r>
            <a:endParaRPr lang="en-US" sz="3400" dirty="0"/>
          </a:p>
        </p:txBody>
      </p:sp>
      <p:sp>
        <p:nvSpPr>
          <p:cNvPr id="6" name="Text 4"/>
          <p:cNvSpPr txBox="1"/>
          <p:nvPr/>
        </p:nvSpPr>
        <p:spPr>
          <a:xfrm>
            <a:off x="975208" y="3154680"/>
            <a:ext cx="3017520" cy="822960"/>
          </a:xfrm>
          <a:prstGeom prst="rect">
            <a:avLst/>
          </a:prstGeom>
          <a:noFill/>
          <a:ln/>
        </p:spPr>
        <p:txBody>
          <a:bodyPr wrap="square" lIns="0" tIns="0" rIns="0" bIns="0" rtlCol="0" anchor="ctr"/>
          <a:lstStyle/>
          <a:p>
            <a:pPr algn="ctr" indent="0" marL="0">
              <a:lnSpc>
                <a:spcPct val="115000"/>
              </a:lnSpc>
              <a:buNone/>
            </a:pPr>
            <a:r>
              <a:rPr lang="en-US" sz="1250" dirty="0">
                <a:solidFill>
                  <a:srgbClr val="E8B4BC"/>
                </a:solidFill>
                <a:latin typeface="Calibri" pitchFamily="34" charset="0"/>
                <a:ea typeface="Calibri" pitchFamily="34" charset="-122"/>
                <a:cs typeface="Calibri" pitchFamily="34" charset="-120"/>
              </a:rPr>
              <a:t>clients « à risque »</a:t>
            </a:r>
            <a:endParaRPr lang="en-US" sz="1250" dirty="0"/>
          </a:p>
          <a:p>
            <a:pPr algn="ctr" indent="0" marL="0">
              <a:lnSpc>
                <a:spcPct val="115000"/>
              </a:lnSpc>
              <a:buNone/>
            </a:pPr>
            <a:r>
              <a:rPr lang="en-US" sz="1250" dirty="0">
                <a:solidFill>
                  <a:srgbClr val="E8B4BC"/>
                </a:solidFill>
                <a:latin typeface="Calibri" pitchFamily="34" charset="0"/>
                <a:ea typeface="Calibri" pitchFamily="34" charset="-122"/>
                <a:cs typeface="Calibri" pitchFamily="34" charset="-120"/>
              </a:rPr>
              <a:t>(9,6 % de la base)</a:t>
            </a:r>
            <a:endParaRPr lang="en-US" sz="1250" dirty="0"/>
          </a:p>
        </p:txBody>
      </p:sp>
      <p:sp>
        <p:nvSpPr>
          <p:cNvPr id="7" name="Shape 5"/>
          <p:cNvSpPr/>
          <p:nvPr/>
        </p:nvSpPr>
        <p:spPr>
          <a:xfrm>
            <a:off x="4449928" y="2331720"/>
            <a:ext cx="3291840" cy="1737360"/>
          </a:xfrm>
          <a:prstGeom prst="roundRect">
            <a:avLst>
              <a:gd name="adj" fmla="val 4211"/>
            </a:avLst>
          </a:prstGeom>
          <a:solidFill>
            <a:srgbClr val="5C3A5C"/>
          </a:solidFill>
          <a:ln/>
        </p:spPr>
        <p:txBody>
          <a:bodyPr/>
          <a:p/>
        </p:txBody>
      </p:sp>
      <p:sp>
        <p:nvSpPr>
          <p:cNvPr id="8" name="Text 6"/>
          <p:cNvSpPr txBox="1"/>
          <p:nvPr/>
        </p:nvSpPr>
        <p:spPr>
          <a:xfrm>
            <a:off x="4449928" y="2487168"/>
            <a:ext cx="3291840" cy="685800"/>
          </a:xfrm>
          <a:prstGeom prst="rect">
            <a:avLst/>
          </a:prstGeom>
          <a:noFill/>
          <a:ln/>
        </p:spPr>
        <p:txBody>
          <a:bodyPr wrap="square" lIns="0" tIns="0" rIns="0" bIns="0" rtlCol="0" anchor="ctr"/>
          <a:lstStyle/>
          <a:p>
            <a:pPr algn="ctr" indent="0" marL="0">
              <a:buNone/>
            </a:pPr>
            <a:r>
              <a:rPr lang="en-US" sz="3400" b="1" dirty="0">
                <a:solidFill>
                  <a:srgbClr val="F2A6BB"/>
                </a:solidFill>
                <a:latin typeface="Cambria" pitchFamily="34" charset="0"/>
                <a:ea typeface="Cambria" pitchFamily="34" charset="-122"/>
                <a:cs typeface="Cambria" pitchFamily="34" charset="-120"/>
              </a:rPr>
              <a:t>454 j</a:t>
            </a:r>
            <a:endParaRPr lang="en-US" sz="3400" dirty="0"/>
          </a:p>
        </p:txBody>
      </p:sp>
      <p:sp>
        <p:nvSpPr>
          <p:cNvPr id="9" name="Text 7"/>
          <p:cNvSpPr txBox="1"/>
          <p:nvPr/>
        </p:nvSpPr>
        <p:spPr>
          <a:xfrm>
            <a:off x="4587088" y="3154680"/>
            <a:ext cx="3017520" cy="822960"/>
          </a:xfrm>
          <a:prstGeom prst="rect">
            <a:avLst/>
          </a:prstGeom>
          <a:noFill/>
          <a:ln/>
        </p:spPr>
        <p:txBody>
          <a:bodyPr wrap="square" lIns="0" tIns="0" rIns="0" bIns="0" rtlCol="0" anchor="ctr"/>
          <a:lstStyle/>
          <a:p>
            <a:pPr algn="ctr" indent="0" marL="0">
              <a:lnSpc>
                <a:spcPct val="115000"/>
              </a:lnSpc>
              <a:buNone/>
            </a:pPr>
            <a:r>
              <a:rPr lang="en-US" sz="1250" dirty="0">
                <a:solidFill>
                  <a:srgbClr val="E8B4BC"/>
                </a:solidFill>
                <a:latin typeface="Calibri" pitchFamily="34" charset="0"/>
                <a:ea typeface="Calibri" pitchFamily="34" charset="-122"/>
                <a:cs typeface="Calibri" pitchFamily="34" charset="-120"/>
              </a:rPr>
              <a:t>sans achat en médiane</a:t>
            </a:r>
            <a:endParaRPr lang="en-US" sz="1250" dirty="0"/>
          </a:p>
          <a:p>
            <a:pPr algn="ctr" indent="0" marL="0">
              <a:lnSpc>
                <a:spcPct val="115000"/>
              </a:lnSpc>
              <a:buNone/>
            </a:pPr>
            <a:r>
              <a:rPr lang="en-US" sz="1250" dirty="0">
                <a:solidFill>
                  <a:srgbClr val="E8B4BC"/>
                </a:solidFill>
                <a:latin typeface="Calibri" pitchFamily="34" charset="0"/>
                <a:ea typeface="Calibri" pitchFamily="34" charset="-122"/>
                <a:cs typeface="Calibri" pitchFamily="34" charset="-120"/>
              </a:rPr>
              <a:t>(vs 181 j pour les Fidèles)</a:t>
            </a:r>
            <a:endParaRPr lang="en-US" sz="1250" dirty="0"/>
          </a:p>
        </p:txBody>
      </p:sp>
      <p:sp>
        <p:nvSpPr>
          <p:cNvPr id="10" name="Shape 8"/>
          <p:cNvSpPr/>
          <p:nvPr/>
        </p:nvSpPr>
        <p:spPr>
          <a:xfrm>
            <a:off x="8061808" y="2331720"/>
            <a:ext cx="3291840" cy="1737360"/>
          </a:xfrm>
          <a:prstGeom prst="roundRect">
            <a:avLst>
              <a:gd name="adj" fmla="val 4211"/>
            </a:avLst>
          </a:prstGeom>
          <a:solidFill>
            <a:srgbClr val="5C3A5C"/>
          </a:solidFill>
          <a:ln/>
        </p:spPr>
        <p:txBody>
          <a:bodyPr/>
          <a:p/>
        </p:txBody>
      </p:sp>
      <p:sp>
        <p:nvSpPr>
          <p:cNvPr id="11" name="Text 9"/>
          <p:cNvSpPr txBox="1"/>
          <p:nvPr/>
        </p:nvSpPr>
        <p:spPr>
          <a:xfrm>
            <a:off x="8061808" y="2487168"/>
            <a:ext cx="3291840" cy="685800"/>
          </a:xfrm>
          <a:prstGeom prst="rect">
            <a:avLst/>
          </a:prstGeom>
          <a:noFill/>
          <a:ln/>
        </p:spPr>
        <p:txBody>
          <a:bodyPr wrap="square" lIns="0" tIns="0" rIns="0" bIns="0" rtlCol="0" anchor="ctr"/>
          <a:lstStyle/>
          <a:p>
            <a:pPr algn="ctr" indent="0" marL="0">
              <a:buNone/>
            </a:pPr>
            <a:r>
              <a:rPr lang="en-US" sz="3400" b="1" dirty="0">
                <a:solidFill>
                  <a:srgbClr val="F2A6BB"/>
                </a:solidFill>
                <a:latin typeface="Cambria" pitchFamily="34" charset="0"/>
                <a:ea typeface="Cambria" pitchFamily="34" charset="-122"/>
                <a:cs typeface="Cambria" pitchFamily="34" charset="-120"/>
              </a:rPr>
              <a:t>3,2 M€</a:t>
            </a:r>
            <a:endParaRPr lang="en-US" sz="3400" dirty="0"/>
          </a:p>
        </p:txBody>
      </p:sp>
      <p:sp>
        <p:nvSpPr>
          <p:cNvPr id="12" name="Text 10"/>
          <p:cNvSpPr txBox="1"/>
          <p:nvPr/>
        </p:nvSpPr>
        <p:spPr>
          <a:xfrm>
            <a:off x="8198968" y="3154680"/>
            <a:ext cx="3017520" cy="822960"/>
          </a:xfrm>
          <a:prstGeom prst="rect">
            <a:avLst/>
          </a:prstGeom>
          <a:noFill/>
          <a:ln/>
        </p:spPr>
        <p:txBody>
          <a:bodyPr wrap="square" lIns="0" tIns="0" rIns="0" bIns="0" rtlCol="0" anchor="ctr"/>
          <a:lstStyle/>
          <a:p>
            <a:pPr algn="ctr" indent="0" marL="0">
              <a:lnSpc>
                <a:spcPct val="115000"/>
              </a:lnSpc>
              <a:buNone/>
            </a:pPr>
            <a:r>
              <a:rPr lang="en-US" sz="1250" dirty="0">
                <a:solidFill>
                  <a:srgbClr val="E8B4BC"/>
                </a:solidFill>
                <a:latin typeface="Calibri" pitchFamily="34" charset="0"/>
                <a:ea typeface="Calibri" pitchFamily="34" charset="-122"/>
                <a:cs typeface="Calibri" pitchFamily="34" charset="-120"/>
              </a:rPr>
              <a:t>de chiffre d'affaires net</a:t>
            </a:r>
            <a:endParaRPr lang="en-US" sz="1250" dirty="0"/>
          </a:p>
          <a:p>
            <a:pPr algn="ctr" indent="0" marL="0">
              <a:lnSpc>
                <a:spcPct val="115000"/>
              </a:lnSpc>
              <a:buNone/>
            </a:pPr>
            <a:r>
              <a:rPr lang="en-US" sz="1250" dirty="0">
                <a:solidFill>
                  <a:srgbClr val="E8B4BC"/>
                </a:solidFill>
                <a:latin typeface="Calibri" pitchFamily="34" charset="0"/>
                <a:ea typeface="Calibri" pitchFamily="34" charset="-122"/>
                <a:cs typeface="Calibri" pitchFamily="34" charset="-120"/>
              </a:rPr>
              <a:t>historiquement lié à ce segment</a:t>
            </a:r>
            <a:endParaRPr lang="en-US" sz="1250" dirty="0"/>
          </a:p>
        </p:txBody>
      </p:sp>
      <p:sp>
        <p:nvSpPr>
          <p:cNvPr id="13" name="Shape 11"/>
          <p:cNvSpPr/>
          <p:nvPr/>
        </p:nvSpPr>
        <p:spPr>
          <a:xfrm>
            <a:off x="548640" y="4617720"/>
            <a:ext cx="11094415" cy="0"/>
          </a:xfrm>
          <a:prstGeom prst="line">
            <a:avLst/>
          </a:prstGeom>
          <a:noFill/>
          <a:ln w="12700">
            <a:solidFill>
              <a:srgbClr val="5C3A5C"/>
            </a:solidFill>
            <a:prstDash val="solid"/>
          </a:ln>
        </p:spPr>
        <p:txBody>
          <a:bodyPr/>
          <a:p/>
        </p:txBody>
      </p:sp>
      <p:sp>
        <p:nvSpPr>
          <p:cNvPr id="14" name="Text 12"/>
          <p:cNvSpPr txBox="1"/>
          <p:nvPr/>
        </p:nvSpPr>
        <p:spPr>
          <a:xfrm>
            <a:off x="548640" y="4892040"/>
            <a:ext cx="11094415" cy="1280160"/>
          </a:xfrm>
          <a:prstGeom prst="rect">
            <a:avLst/>
          </a:prstGeom>
          <a:noFill/>
          <a:ln/>
        </p:spPr>
        <p:txBody>
          <a:bodyPr wrap="square" lIns="0" tIns="0" rIns="0" bIns="0" rtlCol="0" anchor="ctr"/>
          <a:lstStyle/>
          <a:p>
            <a:pPr indent="0" marL="0">
              <a:lnSpc>
                <a:spcPct val="115000"/>
              </a:lnSpc>
              <a:buNone/>
            </a:pPr>
            <a:r>
              <a:rPr lang="en-US" sz="2200" b="1" dirty="0">
                <a:solidFill>
                  <a:srgbClr val="FFFFFF"/>
                </a:solidFill>
                <a:latin typeface="Cambria" pitchFamily="34" charset="0"/>
                <a:ea typeface="Cambria" pitchFamily="34" charset="-122"/>
                <a:cs typeface="Cambria" pitchFamily="34" charset="-120"/>
              </a:rPr>
              <a:t>Peut-on faire revenir ces clients avant qu'ils ne basculent vers les « Perdus » </a:t>
            </a:r>
            <a:pPr indent="0" marL="0">
              <a:lnSpc>
                <a:spcPct val="115000"/>
              </a:lnSpc>
              <a:buNone/>
            </a:pPr>
            <a:r>
              <a:rPr lang="en-US" sz="2200" b="1" dirty="0">
                <a:solidFill>
                  <a:srgbClr val="E8B4BC"/>
                </a:solidFill>
                <a:latin typeface="Cambria" pitchFamily="34" charset="0"/>
                <a:ea typeface="Cambria" pitchFamily="34" charset="-122"/>
                <a:cs typeface="Cambria" pitchFamily="34" charset="-120"/>
              </a:rPr>
              <a:t>(21,8 % de la base pour seulement 2 % du CA net) ?</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640080"/>
          </a:xfrm>
          <a:prstGeom prst="rect">
            <a:avLst/>
          </a:prstGeom>
          <a:noFill/>
          <a:ln/>
        </p:spPr>
        <p:txBody>
          <a:bodyPr wrap="square" lIns="0" tIns="0" rIns="0" bIns="0" rtlCol="0" anchor="ctr"/>
          <a:lstStyle/>
          <a:p>
            <a:pPr indent="0" marL="0">
              <a:buNone/>
            </a:pPr>
            <a:r>
              <a:rPr lang="en-US" sz="3000" b="1" dirty="0">
                <a:solidFill>
                  <a:srgbClr val="3D1B3D"/>
                </a:solidFill>
                <a:latin typeface="Cambria" pitchFamily="34" charset="0"/>
                <a:ea typeface="Cambria" pitchFamily="34" charset="-122"/>
                <a:cs typeface="Cambria" pitchFamily="34" charset="-120"/>
              </a:rPr>
              <a:t>Ce que révèlent les données</a:t>
            </a:r>
            <a:endParaRPr lang="en-US" sz="3000" dirty="0"/>
          </a:p>
        </p:txBody>
      </p:sp>
      <p:sp>
        <p:nvSpPr>
          <p:cNvPr id="3" name="Text 1"/>
          <p:cNvSpPr txBox="1"/>
          <p:nvPr/>
        </p:nvSpPr>
        <p:spPr>
          <a:xfrm>
            <a:off x="548640" y="1051560"/>
            <a:ext cx="11094415" cy="365760"/>
          </a:xfrm>
          <a:prstGeom prst="rect">
            <a:avLst/>
          </a:prstGeom>
          <a:noFill/>
          <a:ln/>
        </p:spPr>
        <p:txBody>
          <a:bodyPr wrap="square" lIns="0" tIns="0" rIns="0" bIns="0" rtlCol="0" anchor="ctr"/>
          <a:lstStyle/>
          <a:p>
            <a:pPr indent="0" marL="0">
              <a:buNone/>
            </a:pPr>
            <a:r>
              <a:rPr lang="en-US" sz="1300" dirty="0">
                <a:solidFill>
                  <a:srgbClr val="8A6E82"/>
                </a:solidFill>
                <a:latin typeface="Calibri" pitchFamily="34" charset="0"/>
                <a:ea typeface="Calibri" pitchFamily="34" charset="-122"/>
                <a:cs typeface="Calibri" pitchFamily="34" charset="-120"/>
              </a:rPr>
              <a:t>3 constats tirés de la segmentation RFM (transactions au 30/06/2026)</a:t>
            </a:r>
            <a:endParaRPr lang="en-US" sz="1300" dirty="0"/>
          </a:p>
        </p:txBody>
      </p:sp>
      <p:sp>
        <p:nvSpPr>
          <p:cNvPr id="4" name="Shape 2"/>
          <p:cNvSpPr/>
          <p:nvPr/>
        </p:nvSpPr>
        <p:spPr>
          <a:xfrm>
            <a:off x="548640" y="1828800"/>
            <a:ext cx="685800" cy="685800"/>
          </a:xfrm>
          <a:prstGeom prst="ellipse">
            <a:avLst/>
          </a:prstGeom>
          <a:solidFill>
            <a:srgbClr val="F7E8EA"/>
          </a:solidFill>
          <a:ln w="19050">
            <a:solidFill>
              <a:srgbClr val="C9184A"/>
            </a:solidFill>
            <a:prstDash val="solid"/>
          </a:ln>
        </p:spPr>
      </p:sp>
      <p:sp>
        <p:nvSpPr>
          <p:cNvPr id="5" name="Text 3"/>
          <p:cNvSpPr txBox="1"/>
          <p:nvPr/>
        </p:nvSpPr>
        <p:spPr>
          <a:xfrm>
            <a:off x="548640" y="1828800"/>
            <a:ext cx="685800" cy="685800"/>
          </a:xfrm>
          <a:prstGeom prst="rect">
            <a:avLst/>
          </a:prstGeom>
          <a:noFill/>
          <a:ln/>
        </p:spPr>
        <p:txBody>
          <a:bodyPr wrap="square" lIns="0" tIns="0" rIns="0" bIns="0" rtlCol="0" anchor="ctr"/>
          <a:lstStyle/>
          <a:p>
            <a:pPr algn="ctr" indent="0" marL="0">
              <a:buNone/>
            </a:pPr>
            <a:r>
              <a:rPr lang="en-US" sz="2200" b="1" dirty="0">
                <a:solidFill>
                  <a:srgbClr val="C9184A"/>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1508760" y="1691640"/>
            <a:ext cx="10134295" cy="457200"/>
          </a:xfrm>
          <a:prstGeom prst="rect">
            <a:avLst/>
          </a:prstGeom>
          <a:noFill/>
          <a:ln/>
        </p:spPr>
        <p:txBody>
          <a:bodyPr wrap="square" lIns="0" tIns="0" rIns="0" bIns="0" rtlCol="0" anchor="ctr"/>
          <a:lstStyle/>
          <a:p>
            <a:pPr indent="0" marL="0">
              <a:buNone/>
            </a:pPr>
            <a:r>
              <a:rPr lang="en-US" sz="1700" b="1" dirty="0">
                <a:solidFill>
                  <a:srgbClr val="3D1B3D"/>
                </a:solidFill>
                <a:latin typeface="Cambria" pitchFamily="34" charset="0"/>
                <a:ea typeface="Cambria" pitchFamily="34" charset="-122"/>
                <a:cs typeface="Cambria" pitchFamily="34" charset="-120"/>
              </a:rPr>
              <a:t>Des décrocheurs de valeur, pas des clients sans valeur</a:t>
            </a:r>
            <a:endParaRPr lang="en-US" sz="1700" dirty="0"/>
          </a:p>
        </p:txBody>
      </p:sp>
      <p:sp>
        <p:nvSpPr>
          <p:cNvPr id="7" name="Text 5"/>
          <p:cNvSpPr txBox="1"/>
          <p:nvPr/>
        </p:nvSpPr>
        <p:spPr>
          <a:xfrm>
            <a:off x="1508760" y="2167128"/>
            <a:ext cx="10134295" cy="868680"/>
          </a:xfrm>
          <a:prstGeom prst="rect">
            <a:avLst/>
          </a:prstGeom>
          <a:noFill/>
          <a:ln/>
        </p:spPr>
        <p:txBody>
          <a:bodyPr wrap="square" lIns="0" tIns="0" rIns="0" bIns="0" rtlCol="0" anchor="ctr"/>
          <a:lstStyle/>
          <a:p>
            <a:pPr indent="0" marL="0">
              <a:lnSpc>
                <a:spcPct val="120000"/>
              </a:lnSpc>
              <a:buNone/>
            </a:pPr>
            <a:r>
              <a:rPr lang="en-US" sz="1300" dirty="0">
                <a:solidFill>
                  <a:srgbClr val="3D1B3D"/>
                </a:solidFill>
                <a:latin typeface="Calibri" pitchFamily="34" charset="0"/>
                <a:ea typeface="Calibri" pitchFamily="34" charset="-122"/>
                <a:cs typeface="Calibri" pitchFamily="34" charset="-120"/>
              </a:rPr>
              <a:t>Leur comportement d'achat passé ressemble à celui de nos clients Fidèles. Ce qui a changé, ce n'est pas leur intérêt pour la marque : c'est uniquement leur activité récente.</a:t>
            </a:r>
            <a:endParaRPr lang="en-US" sz="1300" dirty="0"/>
          </a:p>
        </p:txBody>
      </p:sp>
      <p:sp>
        <p:nvSpPr>
          <p:cNvPr id="8" name="Shape 6"/>
          <p:cNvSpPr/>
          <p:nvPr/>
        </p:nvSpPr>
        <p:spPr>
          <a:xfrm>
            <a:off x="1508760" y="3268980"/>
            <a:ext cx="10134295" cy="0"/>
          </a:xfrm>
          <a:prstGeom prst="line">
            <a:avLst/>
          </a:prstGeom>
          <a:noFill/>
          <a:ln w="12700">
            <a:solidFill>
              <a:srgbClr val="EFDDE1"/>
            </a:solidFill>
            <a:prstDash val="solid"/>
          </a:ln>
        </p:spPr>
      </p:sp>
      <p:sp>
        <p:nvSpPr>
          <p:cNvPr id="9" name="Shape 7"/>
          <p:cNvSpPr/>
          <p:nvPr/>
        </p:nvSpPr>
        <p:spPr>
          <a:xfrm>
            <a:off x="548640" y="3474720"/>
            <a:ext cx="685800" cy="685800"/>
          </a:xfrm>
          <a:prstGeom prst="ellipse">
            <a:avLst/>
          </a:prstGeom>
          <a:solidFill>
            <a:srgbClr val="F7E8EA"/>
          </a:solidFill>
          <a:ln w="19050">
            <a:solidFill>
              <a:srgbClr val="C9184A"/>
            </a:solidFill>
            <a:prstDash val="solid"/>
          </a:ln>
        </p:spPr>
      </p:sp>
      <p:sp>
        <p:nvSpPr>
          <p:cNvPr id="10" name="Text 8"/>
          <p:cNvSpPr txBox="1"/>
          <p:nvPr/>
        </p:nvSpPr>
        <p:spPr>
          <a:xfrm>
            <a:off x="548640" y="3474720"/>
            <a:ext cx="685800" cy="685800"/>
          </a:xfrm>
          <a:prstGeom prst="rect">
            <a:avLst/>
          </a:prstGeom>
          <a:noFill/>
          <a:ln/>
        </p:spPr>
        <p:txBody>
          <a:bodyPr wrap="square" lIns="0" tIns="0" rIns="0" bIns="0" rtlCol="0" anchor="ctr"/>
          <a:lstStyle/>
          <a:p>
            <a:pPr algn="ctr" indent="0" marL="0">
              <a:buNone/>
            </a:pPr>
            <a:r>
              <a:rPr lang="en-US" sz="2200" b="1" dirty="0">
                <a:solidFill>
                  <a:srgbClr val="C9184A"/>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1508760" y="3337560"/>
            <a:ext cx="10134295" cy="457200"/>
          </a:xfrm>
          <a:prstGeom prst="rect">
            <a:avLst/>
          </a:prstGeom>
          <a:noFill/>
          <a:ln/>
        </p:spPr>
        <p:txBody>
          <a:bodyPr wrap="square" lIns="0" tIns="0" rIns="0" bIns="0" rtlCol="0" anchor="ctr"/>
          <a:lstStyle/>
          <a:p>
            <a:pPr indent="0" marL="0">
              <a:buNone/>
            </a:pPr>
            <a:r>
              <a:rPr lang="en-US" sz="1700" b="1" dirty="0">
                <a:solidFill>
                  <a:srgbClr val="3D1B3D"/>
                </a:solidFill>
                <a:latin typeface="Cambria" pitchFamily="34" charset="0"/>
                <a:ea typeface="Cambria" pitchFamily="34" charset="-122"/>
                <a:cs typeface="Cambria" pitchFamily="34" charset="-120"/>
              </a:rPr>
              <a:t>La bascule vers « Perdus » est déjà tracée</a:t>
            </a:r>
            <a:endParaRPr lang="en-US" sz="1700" dirty="0"/>
          </a:p>
        </p:txBody>
      </p:sp>
      <p:sp>
        <p:nvSpPr>
          <p:cNvPr id="12" name="Text 10"/>
          <p:cNvSpPr txBox="1"/>
          <p:nvPr/>
        </p:nvSpPr>
        <p:spPr>
          <a:xfrm>
            <a:off x="1508760" y="3813048"/>
            <a:ext cx="10134295" cy="868680"/>
          </a:xfrm>
          <a:prstGeom prst="rect">
            <a:avLst/>
          </a:prstGeom>
          <a:noFill/>
          <a:ln/>
        </p:spPr>
        <p:txBody>
          <a:bodyPr wrap="square" lIns="0" tIns="0" rIns="0" bIns="0" rtlCol="0" anchor="ctr"/>
          <a:lstStyle/>
          <a:p>
            <a:pPr indent="0" marL="0">
              <a:lnSpc>
                <a:spcPct val="120000"/>
              </a:lnSpc>
              <a:buNone/>
            </a:pPr>
            <a:r>
              <a:rPr lang="en-US" sz="1300" dirty="0">
                <a:solidFill>
                  <a:srgbClr val="3D1B3D"/>
                </a:solidFill>
                <a:latin typeface="Calibri" pitchFamily="34" charset="0"/>
                <a:ea typeface="Calibri" pitchFamily="34" charset="-122"/>
                <a:cs typeface="Calibri" pitchFamily="34" charset="-120"/>
              </a:rPr>
              <a:t>Le segment Perdus montre ce qui arrive à une base qu'on laisse filer : une part croissante de clients pour une part de plus en plus faible du CA. Les clients à risque suivent la même pente — avec une valeur individuelle bien plus élevée à sauver.</a:t>
            </a:r>
            <a:endParaRPr lang="en-US" sz="1300" dirty="0"/>
          </a:p>
        </p:txBody>
      </p:sp>
      <p:sp>
        <p:nvSpPr>
          <p:cNvPr id="13" name="Shape 11"/>
          <p:cNvSpPr/>
          <p:nvPr/>
        </p:nvSpPr>
        <p:spPr>
          <a:xfrm>
            <a:off x="1508760" y="4914900"/>
            <a:ext cx="10134295" cy="0"/>
          </a:xfrm>
          <a:prstGeom prst="line">
            <a:avLst/>
          </a:prstGeom>
          <a:noFill/>
          <a:ln w="12700">
            <a:solidFill>
              <a:srgbClr val="EFDDE1"/>
            </a:solidFill>
            <a:prstDash val="solid"/>
          </a:ln>
        </p:spPr>
      </p:sp>
      <p:sp>
        <p:nvSpPr>
          <p:cNvPr id="14" name="Shape 12"/>
          <p:cNvSpPr/>
          <p:nvPr/>
        </p:nvSpPr>
        <p:spPr>
          <a:xfrm>
            <a:off x="548640" y="5120640"/>
            <a:ext cx="685800" cy="685800"/>
          </a:xfrm>
          <a:prstGeom prst="ellipse">
            <a:avLst/>
          </a:prstGeom>
          <a:solidFill>
            <a:srgbClr val="F7E8EA"/>
          </a:solidFill>
          <a:ln w="19050">
            <a:solidFill>
              <a:srgbClr val="C9184A"/>
            </a:solidFill>
            <a:prstDash val="solid"/>
          </a:ln>
        </p:spPr>
      </p:sp>
      <p:sp>
        <p:nvSpPr>
          <p:cNvPr id="15" name="Text 13"/>
          <p:cNvSpPr txBox="1"/>
          <p:nvPr/>
        </p:nvSpPr>
        <p:spPr>
          <a:xfrm>
            <a:off x="548640" y="5120640"/>
            <a:ext cx="685800" cy="685800"/>
          </a:xfrm>
          <a:prstGeom prst="rect">
            <a:avLst/>
          </a:prstGeom>
          <a:noFill/>
          <a:ln/>
        </p:spPr>
        <p:txBody>
          <a:bodyPr wrap="square" lIns="0" tIns="0" rIns="0" bIns="0" rtlCol="0" anchor="ctr"/>
          <a:lstStyle/>
          <a:p>
            <a:pPr algn="ctr" indent="0" marL="0">
              <a:buNone/>
            </a:pPr>
            <a:r>
              <a:rPr lang="en-US" sz="2200" b="1" dirty="0">
                <a:solidFill>
                  <a:srgbClr val="C9184A"/>
                </a:solidFill>
                <a:latin typeface="Cambria" pitchFamily="34" charset="0"/>
                <a:ea typeface="Cambria" pitchFamily="34" charset="-122"/>
                <a:cs typeface="Cambria" pitchFamily="34" charset="-120"/>
              </a:rPr>
              <a:t>3</a:t>
            </a:r>
            <a:endParaRPr lang="en-US" sz="2200" dirty="0"/>
          </a:p>
        </p:txBody>
      </p:sp>
      <p:sp>
        <p:nvSpPr>
          <p:cNvPr id="16" name="Text 14"/>
          <p:cNvSpPr txBox="1"/>
          <p:nvPr/>
        </p:nvSpPr>
        <p:spPr>
          <a:xfrm>
            <a:off x="1508760" y="4983480"/>
            <a:ext cx="10134295" cy="457200"/>
          </a:xfrm>
          <a:prstGeom prst="rect">
            <a:avLst/>
          </a:prstGeom>
          <a:noFill/>
          <a:ln/>
        </p:spPr>
        <p:txBody>
          <a:bodyPr wrap="square" lIns="0" tIns="0" rIns="0" bIns="0" rtlCol="0" anchor="ctr"/>
          <a:lstStyle/>
          <a:p>
            <a:pPr indent="0" marL="0">
              <a:buNone/>
            </a:pPr>
            <a:r>
              <a:rPr lang="en-US" sz="1700" b="1" dirty="0">
                <a:solidFill>
                  <a:srgbClr val="3D1B3D"/>
                </a:solidFill>
                <a:latin typeface="Cambria" pitchFamily="34" charset="0"/>
                <a:ea typeface="Cambria" pitchFamily="34" charset="-122"/>
                <a:cs typeface="Cambria" pitchFamily="34" charset="-120"/>
              </a:rPr>
              <a:t>Un seul levier de personnalisation fiable : l'historique d'achat</a:t>
            </a:r>
            <a:endParaRPr lang="en-US" sz="1700" dirty="0"/>
          </a:p>
        </p:txBody>
      </p:sp>
      <p:sp>
        <p:nvSpPr>
          <p:cNvPr id="17" name="Text 15"/>
          <p:cNvSpPr txBox="1"/>
          <p:nvPr/>
        </p:nvSpPr>
        <p:spPr>
          <a:xfrm>
            <a:off x="1508760" y="5458968"/>
            <a:ext cx="10134295" cy="868680"/>
          </a:xfrm>
          <a:prstGeom prst="rect">
            <a:avLst/>
          </a:prstGeom>
          <a:noFill/>
          <a:ln/>
        </p:spPr>
        <p:txBody>
          <a:bodyPr wrap="square" lIns="0" tIns="0" rIns="0" bIns="0" rtlCol="0" anchor="ctr"/>
          <a:lstStyle/>
          <a:p>
            <a:pPr indent="0" marL="0">
              <a:lnSpc>
                <a:spcPct val="120000"/>
              </a:lnSpc>
              <a:buNone/>
            </a:pPr>
            <a:r>
              <a:rPr lang="en-US" sz="1300" dirty="0">
                <a:solidFill>
                  <a:srgbClr val="3D1B3D"/>
                </a:solidFill>
                <a:latin typeface="Calibri" pitchFamily="34" charset="0"/>
                <a:ea typeface="Calibri" pitchFamily="34" charset="-122"/>
                <a:cs typeface="Calibri" pitchFamily="34" charset="-120"/>
              </a:rPr>
              <a:t>Seuls 38,3 % du segment ont une préférence déclarée renseignée. En revanche, 100 % ont un historique d'achat exploitable pour personnaliser le message de relance.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640080"/>
          </a:xfrm>
          <a:prstGeom prst="rect">
            <a:avLst/>
          </a:prstGeom>
          <a:noFill/>
          <a:ln/>
        </p:spPr>
        <p:txBody>
          <a:bodyPr wrap="square" lIns="0" tIns="0" rIns="0" bIns="0" rtlCol="0" anchor="ctr"/>
          <a:lstStyle/>
          <a:p>
            <a:pPr indent="0" marL="0">
              <a:buNone/>
            </a:pPr>
            <a:r>
              <a:rPr lang="en-US" sz="3000" b="1" dirty="0">
                <a:solidFill>
                  <a:srgbClr val="3D1B3D"/>
                </a:solidFill>
                <a:latin typeface="Cambria" pitchFamily="34" charset="0"/>
                <a:ea typeface="Cambria" pitchFamily="34" charset="-122"/>
                <a:cs typeface="Cambria" pitchFamily="34" charset="-120"/>
              </a:rPr>
              <a:t>La preuve dans les chiffres</a:t>
            </a:r>
            <a:endParaRPr lang="en-US" sz="3000" dirty="0"/>
          </a:p>
        </p:txBody>
      </p:sp>
      <p:sp>
        <p:nvSpPr>
          <p:cNvPr id="3" name="Text 1"/>
          <p:cNvSpPr txBox="1"/>
          <p:nvPr/>
        </p:nvSpPr>
        <p:spPr>
          <a:xfrm>
            <a:off x="548640" y="1234440"/>
            <a:ext cx="5486400" cy="320040"/>
          </a:xfrm>
          <a:prstGeom prst="rect">
            <a:avLst/>
          </a:prstGeom>
          <a:noFill/>
          <a:ln/>
        </p:spPr>
        <p:txBody>
          <a:bodyPr wrap="square" lIns="0" tIns="0" rIns="0" bIns="0" rtlCol="0" anchor="ctr"/>
          <a:lstStyle/>
          <a:p>
            <a:pPr indent="0" marL="0">
              <a:buNone/>
            </a:pPr>
            <a:r>
              <a:rPr lang="en-US" sz="1300" b="1" dirty="0">
                <a:solidFill>
                  <a:srgbClr val="3D1B3D"/>
                </a:solidFill>
                <a:latin typeface="Calibri" pitchFamily="34" charset="0"/>
                <a:ea typeface="Calibri" pitchFamily="34" charset="-122"/>
                <a:cs typeface="Calibri" pitchFamily="34" charset="-120"/>
              </a:rPr>
              <a:t>Part de la base vs part du CA net</a:t>
            </a:r>
            <a:endParaRPr lang="en-US" sz="1300" dirty="0"/>
          </a:p>
        </p:txBody>
      </p:sp>
      <p:graphicFrame>
        <p:nvGraphicFramePr>
          <p:cNvPr id="4" name="Chart 0" descr=""/>
          <p:cNvGraphicFramePr/>
          <p:nvPr/>
        </p:nvGraphicFramePr>
        <p:xfrm>
          <a:off x="548640" y="1600200"/>
          <a:ext cx="548640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492240" y="1234440"/>
            <a:ext cx="5150815" cy="320040"/>
          </a:xfrm>
          <a:prstGeom prst="rect">
            <a:avLst/>
          </a:prstGeom>
          <a:noFill/>
          <a:ln/>
        </p:spPr>
        <p:txBody>
          <a:bodyPr wrap="square" lIns="0" tIns="0" rIns="0" bIns="0" rtlCol="0" anchor="ctr"/>
          <a:lstStyle/>
          <a:p>
            <a:pPr indent="0" marL="0">
              <a:buNone/>
            </a:pPr>
            <a:r>
              <a:rPr lang="en-US" sz="1300" b="1" dirty="0">
                <a:solidFill>
                  <a:srgbClr val="3D1B3D"/>
                </a:solidFill>
                <a:latin typeface="Calibri" pitchFamily="34" charset="0"/>
                <a:ea typeface="Calibri" pitchFamily="34" charset="-122"/>
                <a:cs typeface="Calibri" pitchFamily="34" charset="-120"/>
              </a:rPr>
              <a:t>Où se situe « À risque » entre Fidèles et Perdus</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92240" y="1600200"/>
          <a:ext cx="5150815" cy="1920240"/>
        </p:xfrm>
        <a:graphic>
          <a:graphicData uri="http://schemas.openxmlformats.org/drawingml/2006/table">
            <a:tbl>
              <a:tblPr/>
              <a:tblGrid>
                <a:gridCol w="1287704"/>
                <a:gridCol w="1287704"/>
                <a:gridCol w="1287704"/>
                <a:gridCol w="1287704"/>
              </a:tblGrid>
              <a:tr h="480060">
                <a:tc>
                  <a:txBody>
                    <a:bodyPr/>
                    <a:lstStyle/>
                    <a:p>
                      <a:pPr algn="l" indent="0" marL="0">
                        <a:buNone/>
                      </a:pPr>
                      <a:r>
                        <a:rPr lang="en-US" sz="1150" b="1" dirty="0">
                          <a:solidFill>
                            <a:srgbClr val="FFFFFF"/>
                          </a:solidFill>
                        </a:rPr>
                        <a:t>Indicateur (médiane)</a:t>
                      </a:r>
                      <a:endParaRPr lang="en-US" sz="115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solidFill>
                      <a:srgbClr val="3D1B3D"/>
                    </a:solidFill>
                  </a:tcPr>
                </a:tc>
                <a:tc>
                  <a:txBody>
                    <a:bodyPr/>
                    <a:lstStyle/>
                    <a:p>
                      <a:pPr algn="ctr" indent="0" marL="0">
                        <a:buNone/>
                      </a:pPr>
                      <a:r>
                        <a:rPr lang="en-US" sz="1150" b="1" dirty="0">
                          <a:solidFill>
                            <a:srgbClr val="FFFFFF"/>
                          </a:solidFill>
                        </a:rPr>
                        <a:t>Fidèles</a:t>
                      </a:r>
                      <a:endParaRPr lang="en-US" sz="115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solidFill>
                      <a:srgbClr val="3D1B3D"/>
                    </a:solidFill>
                  </a:tcPr>
                </a:tc>
                <a:tc>
                  <a:txBody>
                    <a:bodyPr/>
                    <a:lstStyle/>
                    <a:p>
                      <a:pPr algn="ctr" indent="0" marL="0">
                        <a:buNone/>
                      </a:pPr>
                      <a:r>
                        <a:rPr lang="en-US" sz="1150" b="1" dirty="0">
                          <a:solidFill>
                            <a:srgbClr val="FFFFFF"/>
                          </a:solidFill>
                        </a:rPr>
                        <a:t>À risque</a:t>
                      </a:r>
                      <a:endParaRPr lang="en-US" sz="115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solidFill>
                      <a:srgbClr val="3D1B3D"/>
                    </a:solidFill>
                  </a:tcPr>
                </a:tc>
                <a:tc>
                  <a:txBody>
                    <a:bodyPr/>
                    <a:lstStyle/>
                    <a:p>
                      <a:pPr algn="ctr" indent="0" marL="0">
                        <a:buNone/>
                      </a:pPr>
                      <a:r>
                        <a:rPr lang="en-US" sz="1150" b="1" dirty="0">
                          <a:solidFill>
                            <a:srgbClr val="FFFFFF"/>
                          </a:solidFill>
                        </a:rPr>
                        <a:t>Perdus</a:t>
                      </a:r>
                      <a:endParaRPr lang="en-US" sz="115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solidFill>
                      <a:srgbClr val="3D1B3D"/>
                    </a:solidFill>
                  </a:tcPr>
                </a:tc>
              </a:tr>
              <a:tr h="480060">
                <a:tc>
                  <a:txBody>
                    <a:bodyPr/>
                    <a:lstStyle/>
                    <a:p>
                      <a:pPr algn="l" indent="0" marL="0">
                        <a:buNone/>
                      </a:pPr>
                      <a:r>
                        <a:rPr lang="en-US" sz="1200" b="1" dirty="0">
                          <a:solidFill>
                            <a:srgbClr val="3D1B3D"/>
                          </a:solidFill>
                        </a:rPr>
                        <a:t>Récence (jours)</a:t>
                      </a:r>
                      <a:endParaRPr lang="en-US" sz="120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tcPr>
                </a:tc>
                <a:tc>
                  <a:txBody>
                    <a:bodyPr/>
                    <a:lstStyle/>
                    <a:p>
                      <a:pPr algn="ctr" indent="0" marL="0">
                        <a:buNone/>
                      </a:pPr>
                      <a:r>
                        <a:rPr lang="en-US" sz="1200" dirty="0">
                          <a:solidFill>
                            <a:srgbClr val="3D1B3D"/>
                          </a:solidFill>
                        </a:rPr>
                        <a:t>181</a:t>
                      </a:r>
                      <a:endParaRPr lang="en-US" sz="120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tcPr>
                </a:tc>
                <a:tc>
                  <a:txBody>
                    <a:bodyPr/>
                    <a:lstStyle/>
                    <a:p>
                      <a:pPr algn="ctr" indent="0" marL="0">
                        <a:buNone/>
                      </a:pPr>
                      <a:r>
                        <a:rPr lang="en-US" sz="1200" b="1" dirty="0">
                          <a:solidFill>
                            <a:srgbClr val="C9184A"/>
                          </a:solidFill>
                        </a:rPr>
                        <a:t>454</a:t>
                      </a:r>
                      <a:endParaRPr lang="en-US" sz="120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tcPr>
                </a:tc>
                <a:tc>
                  <a:txBody>
                    <a:bodyPr/>
                    <a:lstStyle/>
                    <a:p>
                      <a:pPr algn="ctr" indent="0" marL="0">
                        <a:buNone/>
                      </a:pPr>
                      <a:r>
                        <a:rPr lang="en-US" sz="1200" dirty="0">
                          <a:solidFill>
                            <a:srgbClr val="3D1B3D"/>
                          </a:solidFill>
                        </a:rPr>
                        <a:t>647</a:t>
                      </a:r>
                      <a:endParaRPr lang="en-US" sz="120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tcPr>
                </a:tc>
              </a:tr>
              <a:tr h="480060">
                <a:tc>
                  <a:txBody>
                    <a:bodyPr/>
                    <a:lstStyle/>
                    <a:p>
                      <a:pPr algn="l" indent="0" marL="0">
                        <a:buNone/>
                      </a:pPr>
                      <a:r>
                        <a:rPr lang="en-US" sz="1200" b="1" dirty="0">
                          <a:solidFill>
                            <a:srgbClr val="3D1B3D"/>
                          </a:solidFill>
                        </a:rPr>
                        <a:t>Fréquence (achats)</a:t>
                      </a:r>
                      <a:endParaRPr lang="en-US" sz="120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tcPr>
                </a:tc>
                <a:tc>
                  <a:txBody>
                    <a:bodyPr/>
                    <a:lstStyle/>
                    <a:p>
                      <a:pPr algn="ctr" indent="0" marL="0">
                        <a:buNone/>
                      </a:pPr>
                      <a:r>
                        <a:rPr lang="en-US" sz="1200" dirty="0">
                          <a:solidFill>
                            <a:srgbClr val="3D1B3D"/>
                          </a:solidFill>
                        </a:rPr>
                        <a:t>7</a:t>
                      </a:r>
                      <a:endParaRPr lang="en-US" sz="120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tcPr>
                </a:tc>
                <a:tc>
                  <a:txBody>
                    <a:bodyPr/>
                    <a:lstStyle/>
                    <a:p>
                      <a:pPr algn="ctr" indent="0" marL="0">
                        <a:buNone/>
                      </a:pPr>
                      <a:r>
                        <a:rPr lang="en-US" sz="1200" b="1" dirty="0">
                          <a:solidFill>
                            <a:srgbClr val="C9184A"/>
                          </a:solidFill>
                        </a:rPr>
                        <a:t>4</a:t>
                      </a:r>
                      <a:endParaRPr lang="en-US" sz="120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tcPr>
                </a:tc>
                <a:tc>
                  <a:txBody>
                    <a:bodyPr/>
                    <a:lstStyle/>
                    <a:p>
                      <a:pPr algn="ctr" indent="0" marL="0">
                        <a:buNone/>
                      </a:pPr>
                      <a:r>
                        <a:rPr lang="en-US" sz="1200" dirty="0">
                          <a:solidFill>
                            <a:srgbClr val="3D1B3D"/>
                          </a:solidFill>
                        </a:rPr>
                        <a:t>1</a:t>
                      </a:r>
                      <a:endParaRPr lang="en-US" sz="120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tcPr>
                </a:tc>
              </a:tr>
              <a:tr h="480060">
                <a:tc>
                  <a:txBody>
                    <a:bodyPr/>
                    <a:lstStyle/>
                    <a:p>
                      <a:pPr algn="l" indent="0" marL="0">
                        <a:buNone/>
                      </a:pPr>
                      <a:r>
                        <a:rPr lang="en-US" sz="1200" b="1" dirty="0">
                          <a:solidFill>
                            <a:srgbClr val="3D1B3D"/>
                          </a:solidFill>
                        </a:rPr>
                        <a:t>Montant (€)</a:t>
                      </a:r>
                      <a:endParaRPr lang="en-US" sz="120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tcPr>
                </a:tc>
                <a:tc>
                  <a:txBody>
                    <a:bodyPr/>
                    <a:lstStyle/>
                    <a:p>
                      <a:pPr algn="ctr" indent="0" marL="0">
                        <a:buNone/>
                      </a:pPr>
                      <a:r>
                        <a:rPr lang="en-US" sz="1200" dirty="0">
                          <a:solidFill>
                            <a:srgbClr val="3D1B3D"/>
                          </a:solidFill>
                        </a:rPr>
                        <a:t>498 €</a:t>
                      </a:r>
                      <a:endParaRPr lang="en-US" sz="120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tcPr>
                </a:tc>
                <a:tc>
                  <a:txBody>
                    <a:bodyPr/>
                    <a:lstStyle/>
                    <a:p>
                      <a:pPr algn="ctr" indent="0" marL="0">
                        <a:buNone/>
                      </a:pPr>
                      <a:r>
                        <a:rPr lang="en-US" sz="1200" b="1" dirty="0">
                          <a:solidFill>
                            <a:srgbClr val="C9184A"/>
                          </a:solidFill>
                        </a:rPr>
                        <a:t>355 €</a:t>
                      </a:r>
                      <a:endParaRPr lang="en-US" sz="120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tcPr>
                </a:tc>
                <a:tc>
                  <a:txBody>
                    <a:bodyPr/>
                    <a:lstStyle/>
                    <a:p>
                      <a:pPr algn="ctr" indent="0" marL="0">
                        <a:buNone/>
                      </a:pPr>
                      <a:r>
                        <a:rPr lang="en-US" sz="1200" dirty="0">
                          <a:solidFill>
                            <a:srgbClr val="3D1B3D"/>
                          </a:solidFill>
                        </a:rPr>
                        <a:t>69 €</a:t>
                      </a:r>
                      <a:endParaRPr lang="en-US" sz="120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tcPr>
                </a:tc>
              </a:tr>
            </a:tbl>
          </a:graphicData>
        </a:graphic>
      </p:graphicFrame>
      <p:sp>
        <p:nvSpPr>
          <p:cNvPr id="7" name="Shape 3"/>
          <p:cNvSpPr/>
          <p:nvPr/>
        </p:nvSpPr>
        <p:spPr>
          <a:xfrm>
            <a:off x="6492240" y="3749040"/>
            <a:ext cx="5150815" cy="1051560"/>
          </a:xfrm>
          <a:prstGeom prst="roundRect">
            <a:avLst>
              <a:gd name="adj" fmla="val 5217"/>
            </a:avLst>
          </a:prstGeom>
          <a:solidFill>
            <a:srgbClr val="F7E8EA"/>
          </a:solidFill>
          <a:ln/>
        </p:spPr>
      </p:sp>
      <p:sp>
        <p:nvSpPr>
          <p:cNvPr id="8" name="Text 4"/>
          <p:cNvSpPr txBox="1"/>
          <p:nvPr/>
        </p:nvSpPr>
        <p:spPr>
          <a:xfrm>
            <a:off x="6675120" y="3840480"/>
            <a:ext cx="4785055" cy="868680"/>
          </a:xfrm>
          <a:prstGeom prst="rect">
            <a:avLst/>
          </a:prstGeom>
          <a:noFill/>
          <a:ln/>
        </p:spPr>
        <p:txBody>
          <a:bodyPr wrap="square" lIns="0" tIns="0" rIns="0" bIns="0" rtlCol="0" anchor="ctr"/>
          <a:lstStyle/>
          <a:p>
            <a:pPr indent="0" marL="0">
              <a:lnSpc>
                <a:spcPct val="115000"/>
              </a:lnSpc>
              <a:buNone/>
            </a:pPr>
            <a:r>
              <a:rPr lang="en-US" sz="1150" i="1" dirty="0">
                <a:solidFill>
                  <a:srgbClr val="3D1B3D"/>
                </a:solidFill>
                <a:latin typeface="Calibri" pitchFamily="34" charset="0"/>
                <a:ea typeface="Calibri" pitchFamily="34" charset="-122"/>
                <a:cs typeface="Calibri" pitchFamily="34" charset="-120"/>
              </a:rPr>
              <a:t>À risque combine fréquence et montant proches des Fidèles, mais une récence proche des Perdus : la fenêtre d'action est encore ouverte.</a:t>
            </a:r>
            <a:endParaRPr lang="en-US" sz="1150" dirty="0"/>
          </a:p>
        </p:txBody>
      </p:sp>
      <p:sp>
        <p:nvSpPr>
          <p:cNvPr id="9" name="Text 5"/>
          <p:cNvSpPr txBox="1"/>
          <p:nvPr/>
        </p:nvSpPr>
        <p:spPr>
          <a:xfrm>
            <a:off x="548640" y="6400800"/>
            <a:ext cx="11094415" cy="274320"/>
          </a:xfrm>
          <a:prstGeom prst="rect">
            <a:avLst/>
          </a:prstGeom>
          <a:noFill/>
          <a:ln/>
        </p:spPr>
        <p:txBody>
          <a:bodyPr wrap="square" lIns="0" tIns="0" rIns="0" bIns="0" rtlCol="0" anchor="ctr"/>
          <a:lstStyle/>
          <a:p>
            <a:pPr indent="0" marL="0">
              <a:buNone/>
            </a:pPr>
            <a:r>
              <a:rPr lang="en-US" sz="950" dirty="0">
                <a:solidFill>
                  <a:srgbClr val="8A6E82"/>
                </a:solidFill>
                <a:latin typeface="Calibri" pitchFamily="34" charset="0"/>
                <a:ea typeface="Calibri" pitchFamily="34" charset="-122"/>
                <a:cs typeface="Calibri" pitchFamily="34" charset="-120"/>
              </a:rPr>
              <a:t>Source : segmentation RFM Lumina &amp; Co, transactions au 30/06/2026</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640080"/>
          </a:xfrm>
          <a:prstGeom prst="rect">
            <a:avLst/>
          </a:prstGeom>
          <a:noFill/>
          <a:ln/>
        </p:spPr>
        <p:txBody>
          <a:bodyPr wrap="square" lIns="0" tIns="0" rIns="0" bIns="0" rtlCol="0" anchor="ctr"/>
          <a:lstStyle/>
          <a:p>
            <a:pPr indent="0" marL="0">
              <a:buNone/>
            </a:pPr>
            <a:r>
              <a:rPr lang="en-US" sz="3000" b="1" dirty="0">
                <a:solidFill>
                  <a:srgbClr val="3D1B3D"/>
                </a:solidFill>
                <a:latin typeface="Cambria" pitchFamily="34" charset="0"/>
                <a:ea typeface="Cambria" pitchFamily="34" charset="-122"/>
                <a:cs typeface="Cambria" pitchFamily="34" charset="-120"/>
              </a:rPr>
              <a:t>Notre recommandation</a:t>
            </a:r>
            <a:endParaRPr lang="en-US" sz="3000" dirty="0"/>
          </a:p>
        </p:txBody>
      </p:sp>
      <p:sp>
        <p:nvSpPr>
          <p:cNvPr id="3" name="Shape 1"/>
          <p:cNvSpPr/>
          <p:nvPr/>
        </p:nvSpPr>
        <p:spPr>
          <a:xfrm>
            <a:off x="548640" y="1188720"/>
            <a:ext cx="11094415" cy="685800"/>
          </a:xfrm>
          <a:prstGeom prst="roundRect">
            <a:avLst>
              <a:gd name="adj" fmla="val 10667"/>
            </a:avLst>
          </a:prstGeom>
          <a:solidFill>
            <a:srgbClr val="3D1B3D"/>
          </a:solidFill>
          <a:ln/>
        </p:spPr>
      </p:sp>
      <p:sp>
        <p:nvSpPr>
          <p:cNvPr id="4" name="Text 2"/>
          <p:cNvSpPr txBox="1"/>
          <p:nvPr/>
        </p:nvSpPr>
        <p:spPr>
          <a:xfrm>
            <a:off x="777240" y="1188720"/>
            <a:ext cx="10637215" cy="685800"/>
          </a:xfrm>
          <a:prstGeom prst="rect">
            <a:avLst/>
          </a:prstGeom>
          <a:noFill/>
          <a:ln/>
        </p:spPr>
        <p:txBody>
          <a:bodyPr wrap="square" lIns="0" tIns="0" rIns="0" bIns="0" rtlCol="0" anchor="ctr"/>
          <a:lstStyle/>
          <a:p>
            <a:pPr indent="0" marL="0">
              <a:buNone/>
            </a:pPr>
            <a:r>
              <a:rPr lang="en-US" sz="1200" b="1" dirty="0">
                <a:solidFill>
                  <a:srgbClr val="E8B4BC"/>
                </a:solidFill>
                <a:latin typeface="Calibri" pitchFamily="34" charset="0"/>
                <a:ea typeface="Calibri" pitchFamily="34" charset="-122"/>
                <a:cs typeface="Calibri" pitchFamily="34" charset="-120"/>
              </a:rPr>
              <a:t>CIBLE   </a:t>
            </a:r>
            <a:pPr indent="0" marL="0">
              <a:buNone/>
            </a:pPr>
            <a:r>
              <a:rPr lang="en-US" sz="1500" b="1" dirty="0">
                <a:solidFill>
                  <a:srgbClr val="FFFFFF"/>
                </a:solidFill>
                <a:latin typeface="Calibri" pitchFamily="34" charset="0"/>
                <a:ea typeface="Calibri" pitchFamily="34" charset="-122"/>
                <a:cs typeface="Calibri" pitchFamily="34" charset="-120"/>
              </a:rPr>
              <a:t>4 704 clients « à risque »  ·  9,6 % de la base  ·  8,1 % du CA net</a:t>
            </a:r>
            <a:endParaRPr lang="en-US" sz="1200" dirty="0"/>
          </a:p>
        </p:txBody>
      </p:sp>
      <p:sp>
        <p:nvSpPr>
          <p:cNvPr id="5" name="Shape 3"/>
          <p:cNvSpPr/>
          <p:nvPr/>
        </p:nvSpPr>
        <p:spPr>
          <a:xfrm>
            <a:off x="838048" y="2148840"/>
            <a:ext cx="3291840" cy="1737360"/>
          </a:xfrm>
          <a:prstGeom prst="roundRect">
            <a:avLst>
              <a:gd name="adj" fmla="val 4211"/>
            </a:avLst>
          </a:prstGeom>
          <a:solidFill>
            <a:srgbClr val="F7E8EA"/>
          </a:solidFill>
          <a:ln/>
        </p:spPr>
      </p:sp>
      <p:sp>
        <p:nvSpPr>
          <p:cNvPr id="6" name="Shape 4"/>
          <p:cNvSpPr/>
          <p:nvPr/>
        </p:nvSpPr>
        <p:spPr>
          <a:xfrm>
            <a:off x="1020928" y="2313432"/>
            <a:ext cx="868680" cy="365760"/>
          </a:xfrm>
          <a:prstGeom prst="roundRect">
            <a:avLst>
              <a:gd name="adj" fmla="val 50000"/>
            </a:avLst>
          </a:prstGeom>
          <a:solidFill>
            <a:srgbClr val="C9184A"/>
          </a:solidFill>
          <a:ln/>
        </p:spPr>
      </p:sp>
      <p:sp>
        <p:nvSpPr>
          <p:cNvPr id="7" name="Text 5"/>
          <p:cNvSpPr txBox="1"/>
          <p:nvPr/>
        </p:nvSpPr>
        <p:spPr>
          <a:xfrm>
            <a:off x="1020928" y="2313432"/>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J0</a:t>
            </a:r>
            <a:endParaRPr lang="en-US" sz="1200" dirty="0"/>
          </a:p>
        </p:txBody>
      </p:sp>
      <p:sp>
        <p:nvSpPr>
          <p:cNvPr id="8" name="Text 6"/>
          <p:cNvSpPr txBox="1"/>
          <p:nvPr/>
        </p:nvSpPr>
        <p:spPr>
          <a:xfrm>
            <a:off x="1020928" y="2770632"/>
            <a:ext cx="2926080" cy="365760"/>
          </a:xfrm>
          <a:prstGeom prst="rect">
            <a:avLst/>
          </a:prstGeom>
          <a:noFill/>
          <a:ln/>
        </p:spPr>
        <p:txBody>
          <a:bodyPr wrap="square" lIns="0" tIns="0" rIns="0" bIns="0" rtlCol="0" anchor="ctr"/>
          <a:lstStyle/>
          <a:p>
            <a:pPr indent="0" marL="0">
              <a:buNone/>
            </a:pPr>
            <a:r>
              <a:rPr lang="en-US" sz="1450" b="1" dirty="0">
                <a:solidFill>
                  <a:srgbClr val="3D1B3D"/>
                </a:solidFill>
                <a:latin typeface="Cambria" pitchFamily="34" charset="0"/>
                <a:ea typeface="Cambria" pitchFamily="34" charset="-122"/>
                <a:cs typeface="Cambria" pitchFamily="34" charset="-120"/>
              </a:rPr>
              <a:t>Rappel personnalisé</a:t>
            </a:r>
            <a:endParaRPr lang="en-US" sz="1450" dirty="0"/>
          </a:p>
        </p:txBody>
      </p:sp>
      <p:sp>
        <p:nvSpPr>
          <p:cNvPr id="9" name="Text 7"/>
          <p:cNvSpPr txBox="1"/>
          <p:nvPr/>
        </p:nvSpPr>
        <p:spPr>
          <a:xfrm>
            <a:off x="1020928" y="3136392"/>
            <a:ext cx="2926080" cy="685800"/>
          </a:xfrm>
          <a:prstGeom prst="rect">
            <a:avLst/>
          </a:prstGeom>
          <a:noFill/>
          <a:ln/>
        </p:spPr>
        <p:txBody>
          <a:bodyPr wrap="square" lIns="0" tIns="0" rIns="0" bIns="0" rtlCol="0" anchor="ctr"/>
          <a:lstStyle/>
          <a:p>
            <a:pPr indent="0" marL="0">
              <a:lnSpc>
                <a:spcPct val="115000"/>
              </a:lnSpc>
              <a:buNone/>
            </a:pPr>
            <a:r>
              <a:rPr lang="en-US" sz="1150" dirty="0">
                <a:solidFill>
                  <a:srgbClr val="3D1B3D"/>
                </a:solidFill>
                <a:latin typeface="Calibri" pitchFamily="34" charset="0"/>
                <a:ea typeface="Calibri" pitchFamily="34" charset="-122"/>
                <a:cs typeface="Calibri" pitchFamily="34" charset="-120"/>
              </a:rPr>
              <a:t>Email rappelant le produit ou la routine déjà appréciée du client.</a:t>
            </a:r>
            <a:endParaRPr lang="en-US" sz="1150" dirty="0"/>
          </a:p>
        </p:txBody>
      </p:sp>
      <p:sp>
        <p:nvSpPr>
          <p:cNvPr id="10" name="Text 8"/>
          <p:cNvSpPr txBox="1"/>
          <p:nvPr/>
        </p:nvSpPr>
        <p:spPr>
          <a:xfrm>
            <a:off x="4129888" y="2743200"/>
            <a:ext cx="320040" cy="548640"/>
          </a:xfrm>
          <a:prstGeom prst="rect">
            <a:avLst/>
          </a:prstGeom>
          <a:noFill/>
          <a:ln/>
        </p:spPr>
        <p:txBody>
          <a:bodyPr wrap="square" lIns="0" tIns="0" rIns="0" bIns="0" rtlCol="0" anchor="ctr"/>
          <a:lstStyle/>
          <a:p>
            <a:pPr algn="ctr" indent="0" marL="0">
              <a:buNone/>
            </a:pPr>
            <a:r>
              <a:rPr lang="en-US" sz="2000" b="1" dirty="0">
                <a:solidFill>
                  <a:srgbClr val="C9184A"/>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4449928" y="2148840"/>
            <a:ext cx="3291840" cy="1737360"/>
          </a:xfrm>
          <a:prstGeom prst="roundRect">
            <a:avLst>
              <a:gd name="adj" fmla="val 4211"/>
            </a:avLst>
          </a:prstGeom>
          <a:solidFill>
            <a:srgbClr val="F7E8EA"/>
          </a:solidFill>
          <a:ln/>
        </p:spPr>
      </p:sp>
      <p:sp>
        <p:nvSpPr>
          <p:cNvPr id="12" name="Shape 10"/>
          <p:cNvSpPr/>
          <p:nvPr/>
        </p:nvSpPr>
        <p:spPr>
          <a:xfrm>
            <a:off x="4632808" y="2313432"/>
            <a:ext cx="868680" cy="365760"/>
          </a:xfrm>
          <a:prstGeom prst="roundRect">
            <a:avLst>
              <a:gd name="adj" fmla="val 50000"/>
            </a:avLst>
          </a:prstGeom>
          <a:solidFill>
            <a:srgbClr val="C9184A"/>
          </a:solidFill>
          <a:ln/>
        </p:spPr>
      </p:sp>
      <p:sp>
        <p:nvSpPr>
          <p:cNvPr id="13" name="Text 11"/>
          <p:cNvSpPr txBox="1"/>
          <p:nvPr/>
        </p:nvSpPr>
        <p:spPr>
          <a:xfrm>
            <a:off x="4632808" y="2313432"/>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J+7</a:t>
            </a:r>
            <a:endParaRPr lang="en-US" sz="1200" dirty="0"/>
          </a:p>
        </p:txBody>
      </p:sp>
      <p:sp>
        <p:nvSpPr>
          <p:cNvPr id="14" name="Text 12"/>
          <p:cNvSpPr txBox="1"/>
          <p:nvPr/>
        </p:nvSpPr>
        <p:spPr>
          <a:xfrm>
            <a:off x="4632808" y="2770632"/>
            <a:ext cx="2926080" cy="365760"/>
          </a:xfrm>
          <a:prstGeom prst="rect">
            <a:avLst/>
          </a:prstGeom>
          <a:noFill/>
          <a:ln/>
        </p:spPr>
        <p:txBody>
          <a:bodyPr wrap="square" lIns="0" tIns="0" rIns="0" bIns="0" rtlCol="0" anchor="ctr"/>
          <a:lstStyle/>
          <a:p>
            <a:pPr indent="0" marL="0">
              <a:buNone/>
            </a:pPr>
            <a:r>
              <a:rPr lang="en-US" sz="1450" b="1" dirty="0">
                <a:solidFill>
                  <a:srgbClr val="3D1B3D"/>
                </a:solidFill>
                <a:latin typeface="Cambria" pitchFamily="34" charset="0"/>
                <a:ea typeface="Cambria" pitchFamily="34" charset="-122"/>
                <a:cs typeface="Cambria" pitchFamily="34" charset="-120"/>
              </a:rPr>
              <a:t>Avantage limité</a:t>
            </a:r>
            <a:endParaRPr lang="en-US" sz="1450" dirty="0"/>
          </a:p>
        </p:txBody>
      </p:sp>
      <p:sp>
        <p:nvSpPr>
          <p:cNvPr id="15" name="Text 13"/>
          <p:cNvSpPr txBox="1"/>
          <p:nvPr/>
        </p:nvSpPr>
        <p:spPr>
          <a:xfrm>
            <a:off x="4632808" y="3136392"/>
            <a:ext cx="2926080" cy="685800"/>
          </a:xfrm>
          <a:prstGeom prst="rect">
            <a:avLst/>
          </a:prstGeom>
          <a:noFill/>
          <a:ln/>
        </p:spPr>
        <p:txBody>
          <a:bodyPr wrap="square" lIns="0" tIns="0" rIns="0" bIns="0" rtlCol="0" anchor="ctr"/>
          <a:lstStyle/>
          <a:p>
            <a:pPr indent="0" marL="0">
              <a:lnSpc>
                <a:spcPct val="115000"/>
              </a:lnSpc>
              <a:buNone/>
            </a:pPr>
            <a:r>
              <a:rPr lang="en-US" sz="1150" dirty="0">
                <a:solidFill>
                  <a:srgbClr val="3D1B3D"/>
                </a:solidFill>
                <a:latin typeface="Calibri" pitchFamily="34" charset="0"/>
                <a:ea typeface="Calibri" pitchFamily="34" charset="-122"/>
                <a:cs typeface="Calibri" pitchFamily="34" charset="-120"/>
              </a:rPr>
              <a:t>Si pas de réaction : offre ou service ponctuel, proportionné à la valeur passée.</a:t>
            </a:r>
            <a:endParaRPr lang="en-US" sz="1150" dirty="0"/>
          </a:p>
        </p:txBody>
      </p:sp>
      <p:sp>
        <p:nvSpPr>
          <p:cNvPr id="16" name="Text 14"/>
          <p:cNvSpPr txBox="1"/>
          <p:nvPr/>
        </p:nvSpPr>
        <p:spPr>
          <a:xfrm>
            <a:off x="7741768" y="2743200"/>
            <a:ext cx="320040" cy="548640"/>
          </a:xfrm>
          <a:prstGeom prst="rect">
            <a:avLst/>
          </a:prstGeom>
          <a:noFill/>
          <a:ln/>
        </p:spPr>
        <p:txBody>
          <a:bodyPr wrap="square" lIns="0" tIns="0" rIns="0" bIns="0" rtlCol="0" anchor="ctr"/>
          <a:lstStyle/>
          <a:p>
            <a:pPr algn="ctr" indent="0" marL="0">
              <a:buNone/>
            </a:pPr>
            <a:r>
              <a:rPr lang="en-US" sz="2000" b="1" dirty="0">
                <a:solidFill>
                  <a:srgbClr val="C9184A"/>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8061808" y="2148840"/>
            <a:ext cx="3291840" cy="1737360"/>
          </a:xfrm>
          <a:prstGeom prst="roundRect">
            <a:avLst>
              <a:gd name="adj" fmla="val 4211"/>
            </a:avLst>
          </a:prstGeom>
          <a:solidFill>
            <a:srgbClr val="F7E8EA"/>
          </a:solidFill>
          <a:ln/>
        </p:spPr>
      </p:sp>
      <p:sp>
        <p:nvSpPr>
          <p:cNvPr id="18" name="Shape 16"/>
          <p:cNvSpPr/>
          <p:nvPr/>
        </p:nvSpPr>
        <p:spPr>
          <a:xfrm>
            <a:off x="8244688" y="2313432"/>
            <a:ext cx="868680" cy="365760"/>
          </a:xfrm>
          <a:prstGeom prst="roundRect">
            <a:avLst>
              <a:gd name="adj" fmla="val 50000"/>
            </a:avLst>
          </a:prstGeom>
          <a:solidFill>
            <a:srgbClr val="C9184A"/>
          </a:solidFill>
          <a:ln/>
        </p:spPr>
      </p:sp>
      <p:sp>
        <p:nvSpPr>
          <p:cNvPr id="19" name="Text 17"/>
          <p:cNvSpPr txBox="1"/>
          <p:nvPr/>
        </p:nvSpPr>
        <p:spPr>
          <a:xfrm>
            <a:off x="8244688" y="2313432"/>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STOP</a:t>
            </a:r>
            <a:endParaRPr lang="en-US" sz="1200" dirty="0"/>
          </a:p>
        </p:txBody>
      </p:sp>
      <p:sp>
        <p:nvSpPr>
          <p:cNvPr id="20" name="Text 18"/>
          <p:cNvSpPr txBox="1"/>
          <p:nvPr/>
        </p:nvSpPr>
        <p:spPr>
          <a:xfrm>
            <a:off x="8244688" y="2770632"/>
            <a:ext cx="2926080" cy="365760"/>
          </a:xfrm>
          <a:prstGeom prst="rect">
            <a:avLst/>
          </a:prstGeom>
          <a:noFill/>
          <a:ln/>
        </p:spPr>
        <p:txBody>
          <a:bodyPr wrap="square" lIns="0" tIns="0" rIns="0" bIns="0" rtlCol="0" anchor="ctr"/>
          <a:lstStyle/>
          <a:p>
            <a:pPr indent="0" marL="0">
              <a:buNone/>
            </a:pPr>
            <a:r>
              <a:rPr lang="en-US" sz="1450" b="1" dirty="0">
                <a:solidFill>
                  <a:srgbClr val="3D1B3D"/>
                </a:solidFill>
                <a:latin typeface="Cambria" pitchFamily="34" charset="0"/>
                <a:ea typeface="Cambria" pitchFamily="34" charset="-122"/>
                <a:cs typeface="Cambria" pitchFamily="34" charset="-120"/>
              </a:rPr>
              <a:t>Arrêt du contact</a:t>
            </a:r>
            <a:endParaRPr lang="en-US" sz="1450" dirty="0"/>
          </a:p>
        </p:txBody>
      </p:sp>
      <p:sp>
        <p:nvSpPr>
          <p:cNvPr id="21" name="Text 19"/>
          <p:cNvSpPr txBox="1"/>
          <p:nvPr/>
        </p:nvSpPr>
        <p:spPr>
          <a:xfrm>
            <a:off x="8244688" y="3136392"/>
            <a:ext cx="2926080" cy="685800"/>
          </a:xfrm>
          <a:prstGeom prst="rect">
            <a:avLst/>
          </a:prstGeom>
          <a:noFill/>
          <a:ln/>
        </p:spPr>
        <p:txBody>
          <a:bodyPr wrap="square" lIns="0" tIns="0" rIns="0" bIns="0" rtlCol="0" anchor="ctr"/>
          <a:lstStyle/>
          <a:p>
            <a:pPr indent="0" marL="0">
              <a:lnSpc>
                <a:spcPct val="115000"/>
              </a:lnSpc>
              <a:buNone/>
            </a:pPr>
            <a:r>
              <a:rPr lang="en-US" sz="1150" dirty="0">
                <a:solidFill>
                  <a:srgbClr val="3D1B3D"/>
                </a:solidFill>
                <a:latin typeface="Calibri" pitchFamily="34" charset="0"/>
                <a:ea typeface="Calibri" pitchFamily="34" charset="-122"/>
                <a:cs typeface="Calibri" pitchFamily="34" charset="-120"/>
              </a:rPr>
              <a:t>Après conversion ou opposition. Maximum 2 contacts sur 14 jours.</a:t>
            </a:r>
            <a:endParaRPr lang="en-US" sz="1150" dirty="0"/>
          </a:p>
        </p:txBody>
      </p:sp>
      <p:sp>
        <p:nvSpPr>
          <p:cNvPr id="22" name="Shape 20"/>
          <p:cNvSpPr/>
          <p:nvPr/>
        </p:nvSpPr>
        <p:spPr>
          <a:xfrm>
            <a:off x="548640" y="4251960"/>
            <a:ext cx="11094415" cy="1417320"/>
          </a:xfrm>
          <a:prstGeom prst="roundRect">
            <a:avLst>
              <a:gd name="adj" fmla="val 5161"/>
            </a:avLst>
          </a:prstGeom>
          <a:solidFill>
            <a:srgbClr val="FBF0F2"/>
          </a:solidFill>
          <a:ln w="12700">
            <a:solidFill>
              <a:srgbClr val="E8B4BC"/>
            </a:solidFill>
            <a:prstDash val="solid"/>
          </a:ln>
        </p:spPr>
      </p:sp>
      <p:sp>
        <p:nvSpPr>
          <p:cNvPr id="23" name="Text 21"/>
          <p:cNvSpPr txBox="1"/>
          <p:nvPr/>
        </p:nvSpPr>
        <p:spPr>
          <a:xfrm>
            <a:off x="777240" y="4389120"/>
            <a:ext cx="10637215" cy="777240"/>
          </a:xfrm>
          <a:prstGeom prst="rect">
            <a:avLst/>
          </a:prstGeom>
          <a:noFill/>
          <a:ln/>
        </p:spPr>
        <p:txBody>
          <a:bodyPr wrap="square" lIns="0" tIns="0" rIns="0" bIns="0" rtlCol="0" anchor="ctr"/>
          <a:lstStyle/>
          <a:p>
            <a:pPr indent="0" marL="0">
              <a:lnSpc>
                <a:spcPct val="120000"/>
              </a:lnSpc>
              <a:buNone/>
            </a:pPr>
            <a:r>
              <a:rPr lang="en-US" sz="1150" b="1" dirty="0">
                <a:solidFill>
                  <a:srgbClr val="C9184A"/>
                </a:solidFill>
                <a:latin typeface="Calibri" pitchFamily="34" charset="0"/>
                <a:ea typeface="Calibri" pitchFamily="34" charset="-122"/>
                <a:cs typeface="Calibri" pitchFamily="34" charset="-120"/>
              </a:rPr>
              <a:t>HYPOTHÈSE À TESTER   </a:t>
            </a:r>
            <a:pPr indent="0" marL="0">
              <a:lnSpc>
                <a:spcPct val="120000"/>
              </a:lnSpc>
              <a:buNone/>
            </a:pPr>
            <a:r>
              <a:rPr lang="en-US" sz="1300" dirty="0">
                <a:solidFill>
                  <a:srgbClr val="3D1B3D"/>
                </a:solidFill>
                <a:latin typeface="Calibri" pitchFamily="34" charset="0"/>
                <a:ea typeface="Calibri" pitchFamily="34" charset="-122"/>
                <a:cs typeface="Calibri" pitchFamily="34" charset="-120"/>
              </a:rPr>
              <a:t>Si on envoie un email de relance personnalisé aux clients à risque, alors une partie d'entre eux se réactive. Le RFM décrit un comportement passé : seul un test avec groupe témoin confirmera l'effet réel de l'email.</a:t>
            </a:r>
            <a:endParaRPr lang="en-US" sz="1150" dirty="0"/>
          </a:p>
        </p:txBody>
      </p:sp>
      <p:sp>
        <p:nvSpPr>
          <p:cNvPr id="24" name="Shape 22"/>
          <p:cNvSpPr/>
          <p:nvPr/>
        </p:nvSpPr>
        <p:spPr>
          <a:xfrm>
            <a:off x="777240" y="5166360"/>
            <a:ext cx="10637215" cy="0"/>
          </a:xfrm>
          <a:prstGeom prst="line">
            <a:avLst/>
          </a:prstGeom>
          <a:noFill/>
          <a:ln w="9525">
            <a:solidFill>
              <a:srgbClr val="E8B4BC"/>
            </a:solidFill>
            <a:prstDash val="solid"/>
          </a:ln>
        </p:spPr>
      </p:sp>
      <p:sp>
        <p:nvSpPr>
          <p:cNvPr id="25" name="Text 23"/>
          <p:cNvSpPr txBox="1"/>
          <p:nvPr/>
        </p:nvSpPr>
        <p:spPr>
          <a:xfrm>
            <a:off x="777240" y="5230368"/>
            <a:ext cx="10637215" cy="365760"/>
          </a:xfrm>
          <a:prstGeom prst="rect">
            <a:avLst/>
          </a:prstGeom>
          <a:noFill/>
          <a:ln/>
        </p:spPr>
        <p:txBody>
          <a:bodyPr wrap="square" lIns="0" tIns="0" rIns="0" bIns="0" rtlCol="0" anchor="ctr"/>
          <a:lstStyle/>
          <a:p>
            <a:pPr indent="0" marL="0">
              <a:buNone/>
            </a:pPr>
            <a:r>
              <a:rPr lang="en-US" sz="1150" b="1" dirty="0">
                <a:solidFill>
                  <a:srgbClr val="C9184A"/>
                </a:solidFill>
                <a:latin typeface="Calibri" pitchFamily="34" charset="0"/>
                <a:ea typeface="Calibri" pitchFamily="34" charset="-122"/>
                <a:cs typeface="Calibri" pitchFamily="34" charset="-120"/>
              </a:rPr>
              <a:t>KPI   </a:t>
            </a:r>
            <a:pPr indent="0" marL="0">
              <a:buNone/>
            </a:pPr>
            <a:r>
              <a:rPr lang="en-US" sz="1300" b="1" dirty="0">
                <a:solidFill>
                  <a:srgbClr val="3D1B3D"/>
                </a:solidFill>
                <a:latin typeface="Calibri" pitchFamily="34" charset="0"/>
                <a:ea typeface="Calibri" pitchFamily="34" charset="-122"/>
                <a:cs typeface="Calibri" pitchFamily="34" charset="-120"/>
              </a:rPr>
              <a:t>Taux de réactivation à 30 jours + marge récupérée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3D1B3D"/>
        </a:solidFill>
      </p:bgPr>
    </p:bg>
    <p:spTree>
      <p:nvGrpSpPr>
        <p:cNvPr id="1" name=""/>
        <p:cNvGrpSpPr/>
        <p:nvPr/>
      </p:nvGrpSpPr>
      <p:grpSpPr>
        <a:xfrm>
          <a:off x="0" y="0"/>
          <a:ext cx="0" cy="0"/>
          <a:chOff x="0" y="0"/>
          <a:chExt cx="0" cy="0"/>
        </a:xfrm>
      </p:grpSpPr>
      <p:sp>
        <p:nvSpPr>
          <p:cNvPr id="2" name="Text 0"/>
          <p:cNvSpPr txBox="1"/>
          <p:nvPr/>
        </p:nvSpPr>
        <p:spPr>
          <a:xfrm>
            <a:off x="548640" y="548640"/>
            <a:ext cx="11094415"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Ce qu'on peut en attendre</a:t>
            </a:r>
            <a:endParaRPr lang="en-US" sz="3000" dirty="0"/>
          </a:p>
        </p:txBody>
      </p:sp>
      <p:sp>
        <p:nvSpPr>
          <p:cNvPr id="3" name="Text 1"/>
          <p:cNvSpPr txBox="1"/>
          <p:nvPr/>
        </p:nvSpPr>
        <p:spPr>
          <a:xfrm>
            <a:off x="548640" y="1417320"/>
            <a:ext cx="5669280" cy="1005840"/>
          </a:xfrm>
          <a:prstGeom prst="rect">
            <a:avLst/>
          </a:prstGeom>
          <a:noFill/>
          <a:ln/>
        </p:spPr>
        <p:txBody>
          <a:bodyPr wrap="square" lIns="0" tIns="0" rIns="0" bIns="0" rtlCol="0" anchor="ctr"/>
          <a:lstStyle/>
          <a:p>
            <a:pPr indent="0" marL="0">
              <a:buNone/>
            </a:pPr>
            <a:r>
              <a:rPr lang="en-US" sz="5200" b="1" dirty="0">
                <a:solidFill>
                  <a:srgbClr val="F2A6BB"/>
                </a:solidFill>
                <a:latin typeface="Cambria" pitchFamily="34" charset="0"/>
                <a:ea typeface="Cambria" pitchFamily="34" charset="-122"/>
                <a:cs typeface="Cambria" pitchFamily="34" charset="-120"/>
              </a:rPr>
              <a:t>≈ 32 000 €</a:t>
            </a:r>
            <a:endParaRPr lang="en-US" sz="5200" dirty="0"/>
          </a:p>
        </p:txBody>
      </p:sp>
      <p:sp>
        <p:nvSpPr>
          <p:cNvPr id="4" name="Text 2"/>
          <p:cNvSpPr txBox="1"/>
          <p:nvPr/>
        </p:nvSpPr>
        <p:spPr>
          <a:xfrm>
            <a:off x="548640" y="2423160"/>
            <a:ext cx="5669280" cy="914400"/>
          </a:xfrm>
          <a:prstGeom prst="rect">
            <a:avLst/>
          </a:prstGeom>
          <a:noFill/>
          <a:ln/>
        </p:spPr>
        <p:txBody>
          <a:bodyPr wrap="square" lIns="0" tIns="0" rIns="0" bIns="0" rtlCol="0" anchor="ctr"/>
          <a:lstStyle/>
          <a:p>
            <a:pPr indent="0" marL="0">
              <a:lnSpc>
                <a:spcPct val="120000"/>
              </a:lnSpc>
              <a:buNone/>
            </a:pPr>
            <a:r>
              <a:rPr lang="en-US" sz="1400" dirty="0">
                <a:solidFill>
                  <a:srgbClr val="E8B4BC"/>
                </a:solidFill>
                <a:latin typeface="Calibri" pitchFamily="34" charset="0"/>
                <a:ea typeface="Calibri" pitchFamily="34" charset="-122"/>
                <a:cs typeface="Calibri" pitchFamily="34" charset="-120"/>
              </a:rPr>
              <a:t>de CA potentiellement récupéré pour un gain incrémental de 5 points, soit environ 235 clients à 137 € par commande.</a:t>
            </a:r>
            <a:endParaRPr lang="en-US" sz="1400" dirty="0"/>
          </a:p>
        </p:txBody>
      </p:sp>
      <p:sp>
        <p:nvSpPr>
          <p:cNvPr id="5" name="Text 3"/>
          <p:cNvSpPr txBox="1"/>
          <p:nvPr/>
        </p:nvSpPr>
        <p:spPr>
          <a:xfrm>
            <a:off x="548640" y="3291840"/>
            <a:ext cx="5669280" cy="548640"/>
          </a:xfrm>
          <a:prstGeom prst="rect">
            <a:avLst/>
          </a:prstGeom>
          <a:noFill/>
          <a:ln/>
        </p:spPr>
        <p:txBody>
          <a:bodyPr wrap="square" lIns="0" tIns="0" rIns="0" bIns="0" rtlCol="0" anchor="ctr"/>
          <a:lstStyle/>
          <a:p>
            <a:pPr indent="0" marL="0">
              <a:lnSpc>
                <a:spcPct val="115000"/>
              </a:lnSpc>
              <a:buNone/>
            </a:pPr>
            <a:r>
              <a:rPr lang="en-US" sz="1100" i="1" dirty="0">
                <a:solidFill>
                  <a:srgbClr val="B99AB2"/>
                </a:solidFill>
                <a:latin typeface="Calibri" pitchFamily="34" charset="0"/>
                <a:ea typeface="Calibri" pitchFamily="34" charset="-122"/>
                <a:cs typeface="Calibri" pitchFamily="34" charset="-120"/>
              </a:rPr>
              <a:t>Estimation illustrative pour cadrer l'enjeu — le taux réel de réactivation sera mesuré par le test, pas supposé.</a:t>
            </a:r>
            <a:endParaRPr lang="en-US" sz="1100" dirty="0"/>
          </a:p>
        </p:txBody>
      </p:sp>
      <p:sp>
        <p:nvSpPr>
          <p:cNvPr id="6" name="Shape 4"/>
          <p:cNvSpPr/>
          <p:nvPr/>
        </p:nvSpPr>
        <p:spPr>
          <a:xfrm>
            <a:off x="6492240" y="1417320"/>
            <a:ext cx="5150815" cy="2468880"/>
          </a:xfrm>
          <a:prstGeom prst="roundRect">
            <a:avLst>
              <a:gd name="adj" fmla="val 3704"/>
            </a:avLst>
          </a:prstGeom>
          <a:solidFill>
            <a:srgbClr val="5C3A5C"/>
          </a:solidFill>
          <a:ln/>
        </p:spPr>
        <p:txBody>
          <a:bodyPr/>
          <a:p/>
        </p:txBody>
      </p:sp>
      <p:sp>
        <p:nvSpPr>
          <p:cNvPr id="7" name="Text 5"/>
          <p:cNvSpPr txBox="1"/>
          <p:nvPr/>
        </p:nvSpPr>
        <p:spPr>
          <a:xfrm>
            <a:off x="6675120" y="1600200"/>
            <a:ext cx="4785055" cy="320040"/>
          </a:xfrm>
          <a:prstGeom prst="rect">
            <a:avLst/>
          </a:prstGeom>
          <a:noFill/>
          <a:ln/>
        </p:spPr>
        <p:txBody>
          <a:bodyPr wrap="square" lIns="0" tIns="0" rIns="0" bIns="0" rtlCol="0" anchor="ctr"/>
          <a:lstStyle/>
          <a:p>
            <a:pPr indent="0" marL="0">
              <a:buNone/>
            </a:pPr>
            <a:r>
              <a:rPr lang="en-US" sz="1150" b="1" spc="150" kern="0" dirty="0">
                <a:solidFill>
                  <a:srgbClr val="C9184A"/>
                </a:solidFill>
                <a:latin typeface="Calibri" pitchFamily="34" charset="0"/>
                <a:ea typeface="Calibri" pitchFamily="34" charset="-122"/>
                <a:cs typeface="Calibri" pitchFamily="34" charset="-120"/>
              </a:rPr>
              <a:t>DÉCISION DEMANDÉE</a:t>
            </a:r>
            <a:endParaRPr lang="en-US" sz="1150" dirty="0"/>
          </a:p>
        </p:txBody>
      </p:sp>
      <p:sp>
        <p:nvSpPr>
          <p:cNvPr id="8" name="Text 6"/>
          <p:cNvSpPr txBox="1"/>
          <p:nvPr/>
        </p:nvSpPr>
        <p:spPr>
          <a:xfrm>
            <a:off x="6675120" y="1965960"/>
            <a:ext cx="4785055" cy="1737360"/>
          </a:xfrm>
          <a:prstGeom prst="rect">
            <a:avLst/>
          </a:prstGeom>
          <a:noFill/>
          <a:ln/>
        </p:spPr>
        <p:txBody>
          <a:bodyPr wrap="square" lIns="0" tIns="0" rIns="0" bIns="0" rtlCol="0" anchor="ctr"/>
          <a:lstStyle/>
          <a:p>
            <a:pPr indent="0" marL="0">
              <a:lnSpc>
                <a:spcPct val="120000"/>
              </a:lnSpc>
              <a:buNone/>
            </a:pPr>
            <a:r>
              <a:rPr lang="en-US" sz="1650" b="1" dirty="0">
                <a:solidFill>
                  <a:srgbClr val="FFFFFF"/>
                </a:solidFill>
                <a:latin typeface="Cambria" pitchFamily="34" charset="0"/>
                <a:ea typeface="Cambria" pitchFamily="34" charset="-122"/>
                <a:cs typeface="Cambria" pitchFamily="34" charset="-120"/>
              </a:rPr>
              <a:t>Lancer un test A/B (groupe test vs groupe témoin) sur les 4 704 clients à risque, et mesurer le taux de réactivation à 30 jours avant toute généralisation.</a:t>
            </a:r>
            <a:endParaRPr lang="en-US" sz="1650" dirty="0"/>
          </a:p>
        </p:txBody>
      </p:sp>
      <p:sp>
        <p:nvSpPr>
          <p:cNvPr id="9" name="Shape 7"/>
          <p:cNvSpPr/>
          <p:nvPr/>
        </p:nvSpPr>
        <p:spPr>
          <a:xfrm>
            <a:off x="746608" y="4434840"/>
            <a:ext cx="2331720" cy="685800"/>
          </a:xfrm>
          <a:prstGeom prst="roundRect">
            <a:avLst>
              <a:gd name="adj" fmla="val 46667"/>
            </a:avLst>
          </a:prstGeom>
          <a:solidFill>
            <a:srgbClr val="5C3A5C"/>
          </a:solidFill>
          <a:ln/>
        </p:spPr>
        <p:txBody>
          <a:bodyPr/>
          <a:p/>
        </p:txBody>
      </p:sp>
      <p:sp>
        <p:nvSpPr>
          <p:cNvPr id="10" name="Text 8"/>
          <p:cNvSpPr txBox="1"/>
          <p:nvPr/>
        </p:nvSpPr>
        <p:spPr>
          <a:xfrm>
            <a:off x="746608" y="4434840"/>
            <a:ext cx="233172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Problème</a:t>
            </a:r>
            <a:endParaRPr lang="en-US" sz="1300" dirty="0"/>
          </a:p>
        </p:txBody>
      </p:sp>
      <p:sp>
        <p:nvSpPr>
          <p:cNvPr id="11" name="Text 9"/>
          <p:cNvSpPr txBox="1"/>
          <p:nvPr/>
        </p:nvSpPr>
        <p:spPr>
          <a:xfrm>
            <a:off x="3078328" y="4434840"/>
            <a:ext cx="457200" cy="685800"/>
          </a:xfrm>
          <a:prstGeom prst="rect">
            <a:avLst/>
          </a:prstGeom>
          <a:noFill/>
          <a:ln/>
        </p:spPr>
        <p:txBody>
          <a:bodyPr wrap="square" lIns="0" tIns="0" rIns="0" bIns="0" rtlCol="0" anchor="ctr"/>
          <a:lstStyle/>
          <a:p>
            <a:pPr algn="ctr" indent="0" marL="0">
              <a:buNone/>
            </a:pPr>
            <a:r>
              <a:rPr lang="en-US" sz="1800" b="1" dirty="0">
                <a:solidFill>
                  <a:srgbClr val="E8B4BC"/>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3535528" y="4434840"/>
            <a:ext cx="2331720" cy="685800"/>
          </a:xfrm>
          <a:prstGeom prst="roundRect">
            <a:avLst>
              <a:gd name="adj" fmla="val 46667"/>
            </a:avLst>
          </a:prstGeom>
          <a:solidFill>
            <a:srgbClr val="5C3A5C"/>
          </a:solidFill>
          <a:ln/>
        </p:spPr>
        <p:txBody>
          <a:bodyPr/>
          <a:p/>
        </p:txBody>
      </p:sp>
      <p:sp>
        <p:nvSpPr>
          <p:cNvPr id="13" name="Text 11"/>
          <p:cNvSpPr txBox="1"/>
          <p:nvPr/>
        </p:nvSpPr>
        <p:spPr>
          <a:xfrm>
            <a:off x="3535528" y="4434840"/>
            <a:ext cx="233172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Preuve</a:t>
            </a:r>
            <a:endParaRPr lang="en-US" sz="1300" dirty="0"/>
          </a:p>
        </p:txBody>
      </p:sp>
      <p:sp>
        <p:nvSpPr>
          <p:cNvPr id="14" name="Text 12"/>
          <p:cNvSpPr txBox="1"/>
          <p:nvPr/>
        </p:nvSpPr>
        <p:spPr>
          <a:xfrm>
            <a:off x="5867248" y="4434840"/>
            <a:ext cx="457200" cy="685800"/>
          </a:xfrm>
          <a:prstGeom prst="rect">
            <a:avLst/>
          </a:prstGeom>
          <a:noFill/>
          <a:ln/>
        </p:spPr>
        <p:txBody>
          <a:bodyPr wrap="square" lIns="0" tIns="0" rIns="0" bIns="0" rtlCol="0" anchor="ctr"/>
          <a:lstStyle/>
          <a:p>
            <a:pPr algn="ctr" indent="0" marL="0">
              <a:buNone/>
            </a:pPr>
            <a:r>
              <a:rPr lang="en-US" sz="1800" b="1" dirty="0">
                <a:solidFill>
                  <a:srgbClr val="E8B4BC"/>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6324448" y="4434840"/>
            <a:ext cx="2331720" cy="685800"/>
          </a:xfrm>
          <a:prstGeom prst="roundRect">
            <a:avLst>
              <a:gd name="adj" fmla="val 46667"/>
            </a:avLst>
          </a:prstGeom>
          <a:solidFill>
            <a:srgbClr val="5C3A5C"/>
          </a:solidFill>
          <a:ln/>
        </p:spPr>
        <p:txBody>
          <a:bodyPr/>
          <a:p/>
        </p:txBody>
      </p:sp>
      <p:sp>
        <p:nvSpPr>
          <p:cNvPr id="16" name="Text 14"/>
          <p:cNvSpPr txBox="1"/>
          <p:nvPr/>
        </p:nvSpPr>
        <p:spPr>
          <a:xfrm>
            <a:off x="6324448" y="4434840"/>
            <a:ext cx="233172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Décision</a:t>
            </a:r>
            <a:endParaRPr lang="en-US" sz="1300" dirty="0"/>
          </a:p>
        </p:txBody>
      </p:sp>
      <p:sp>
        <p:nvSpPr>
          <p:cNvPr id="17" name="Text 15"/>
          <p:cNvSpPr txBox="1"/>
          <p:nvPr/>
        </p:nvSpPr>
        <p:spPr>
          <a:xfrm>
            <a:off x="8656168" y="4434840"/>
            <a:ext cx="457200" cy="685800"/>
          </a:xfrm>
          <a:prstGeom prst="rect">
            <a:avLst/>
          </a:prstGeom>
          <a:noFill/>
          <a:ln/>
        </p:spPr>
        <p:txBody>
          <a:bodyPr wrap="square" lIns="0" tIns="0" rIns="0" bIns="0" rtlCol="0" anchor="ctr"/>
          <a:lstStyle/>
          <a:p>
            <a:pPr algn="ctr" indent="0" marL="0">
              <a:buNone/>
            </a:pPr>
            <a:r>
              <a:rPr lang="en-US" sz="1800" b="1" dirty="0">
                <a:solidFill>
                  <a:srgbClr val="E8B4BC"/>
                </a:solidFill>
                <a:latin typeface="Calibri" pitchFamily="34" charset="0"/>
                <a:ea typeface="Calibri" pitchFamily="34" charset="-122"/>
                <a:cs typeface="Calibri" pitchFamily="34" charset="-120"/>
              </a:rPr>
              <a:t>→</a:t>
            </a:r>
            <a:endParaRPr lang="en-US" sz="1800" dirty="0"/>
          </a:p>
        </p:txBody>
      </p:sp>
      <p:sp>
        <p:nvSpPr>
          <p:cNvPr id="18" name="Shape 16"/>
          <p:cNvSpPr/>
          <p:nvPr/>
        </p:nvSpPr>
        <p:spPr>
          <a:xfrm>
            <a:off x="9113368" y="4434840"/>
            <a:ext cx="2331720" cy="685800"/>
          </a:xfrm>
          <a:prstGeom prst="roundRect">
            <a:avLst>
              <a:gd name="adj" fmla="val 46667"/>
            </a:avLst>
          </a:prstGeom>
          <a:solidFill>
            <a:srgbClr val="C9184A"/>
          </a:solidFill>
          <a:ln/>
        </p:spPr>
        <p:txBody>
          <a:bodyPr/>
          <a:p/>
        </p:txBody>
      </p:sp>
      <p:sp>
        <p:nvSpPr>
          <p:cNvPr id="19" name="Text 17"/>
          <p:cNvSpPr txBox="1"/>
          <p:nvPr/>
        </p:nvSpPr>
        <p:spPr>
          <a:xfrm>
            <a:off x="9113368" y="4434840"/>
            <a:ext cx="233172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Résultat</a:t>
            </a:r>
            <a:endParaRPr lang="en-US" sz="1300" dirty="0"/>
          </a:p>
        </p:txBody>
      </p:sp>
      <p:sp>
        <p:nvSpPr>
          <p:cNvPr id="20" name="Text 18"/>
          <p:cNvSpPr txBox="1"/>
          <p:nvPr/>
        </p:nvSpPr>
        <p:spPr>
          <a:xfrm>
            <a:off x="548640" y="6355080"/>
            <a:ext cx="11094415" cy="274320"/>
          </a:xfrm>
          <a:prstGeom prst="rect">
            <a:avLst/>
          </a:prstGeom>
          <a:noFill/>
          <a:ln/>
        </p:spPr>
        <p:txBody>
          <a:bodyPr wrap="square" lIns="0" tIns="0" rIns="0" bIns="0" rtlCol="0" anchor="ctr"/>
          <a:lstStyle/>
          <a:p>
            <a:pPr indent="0" marL="0">
              <a:buNone/>
            </a:pPr>
            <a:r>
              <a:rPr lang="en-US" sz="950" dirty="0">
                <a:solidFill>
                  <a:srgbClr val="B99AB2"/>
                </a:solidFill>
                <a:latin typeface="Calibri" pitchFamily="34" charset="0"/>
                <a:ea typeface="Calibri" pitchFamily="34" charset="-122"/>
                <a:cs typeface="Calibri" pitchFamily="34" charset="-120"/>
              </a:rPr>
              <a:t>Lumina &amp; Co  ·  Data Storytelling  ·  Segment « À risque »</a:t>
            </a:r>
            <a:endParaRPr lang="en-US" sz="95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881360" cy="274320"/>
          </a:xfrm>
          <a:prstGeom prst="rect">
            <a:avLst/>
          </a:prstGeom>
          <a:noFill/>
        </p:spPr>
        <p:txBody>
          <a:bodyPr wrap="square" lIns="0" rIns="0" tIns="0" bIns="0">
            <a:spAutoFit/>
          </a:bodyPr>
          <a:lstStyle/>
          <a:p>
            <a:pPr algn="l"/>
            <a:r>
              <a:rPr sz="900" b="1">
                <a:solidFill>
                  <a:srgbClr val="C9184A"/>
                </a:solidFill>
                <a:latin typeface="Calibri"/>
              </a:rPr>
              <a:t>KPIS DE CAMPAGNE</a:t>
            </a:r>
          </a:p>
        </p:txBody>
      </p:sp>
      <p:sp>
        <p:nvSpPr>
          <p:cNvPr id="3" name="TextBox 2"/>
          <p:cNvSpPr txBox="1"/>
          <p:nvPr/>
        </p:nvSpPr>
        <p:spPr>
          <a:xfrm>
            <a:off x="640080" y="713232"/>
            <a:ext cx="10881360" cy="594360"/>
          </a:xfrm>
          <a:prstGeom prst="rect">
            <a:avLst/>
          </a:prstGeom>
          <a:noFill/>
        </p:spPr>
        <p:txBody>
          <a:bodyPr wrap="square" lIns="0" rIns="0" tIns="0" bIns="0">
            <a:spAutoFit/>
          </a:bodyPr>
          <a:lstStyle/>
          <a:p>
            <a:pPr algn="l"/>
            <a:r>
              <a:rPr sz="2500" b="1">
                <a:solidFill>
                  <a:srgbClr val="3D1B3D"/>
                </a:solidFill>
                <a:latin typeface="Cambria"/>
              </a:rPr>
              <a:t>La campagne gagnante dépend de l'objectif</a:t>
            </a:r>
          </a:p>
        </p:txBody>
      </p:sp>
      <p:sp>
        <p:nvSpPr>
          <p:cNvPr id="4" name="TextBox 3"/>
          <p:cNvSpPr txBox="1"/>
          <p:nvPr/>
        </p:nvSpPr>
        <p:spPr>
          <a:xfrm>
            <a:off x="640080" y="1261872"/>
            <a:ext cx="10881360" cy="411480"/>
          </a:xfrm>
          <a:prstGeom prst="rect">
            <a:avLst/>
          </a:prstGeom>
          <a:noFill/>
        </p:spPr>
        <p:txBody>
          <a:bodyPr wrap="square" lIns="0" rIns="0" tIns="0" bIns="0">
            <a:spAutoFit/>
          </a:bodyPr>
          <a:lstStyle/>
          <a:p>
            <a:pPr algn="l"/>
            <a:r>
              <a:rPr sz="1200" b="0">
                <a:solidFill>
                  <a:srgbClr val="8A6E82"/>
                </a:solidFill>
                <a:latin typeface="Calibri"/>
              </a:rPr>
              <a:t>Winter Promo maximise le rendement ; Spring Launch recrute au meilleur coût.</a:t>
            </a:r>
          </a:p>
        </p:txBody>
      </p:sp>
      <p:sp>
        <p:nvSpPr>
          <p:cNvPr id="5" name="Rounded Rectangle 4"/>
          <p:cNvSpPr/>
          <p:nvPr/>
        </p:nvSpPr>
        <p:spPr>
          <a:xfrm>
            <a:off x="731520" y="1874519"/>
            <a:ext cx="2468880" cy="1170432"/>
          </a:xfrm>
          <a:prstGeom prst="roundRect">
            <a:avLst/>
          </a:prstGeom>
          <a:solidFill>
            <a:srgbClr val="F7E8EA"/>
          </a:solidFill>
          <a:ln>
            <a:solidFill>
              <a:srgbClr val="F7E8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020824"/>
            <a:ext cx="2066544" cy="411480"/>
          </a:xfrm>
          <a:prstGeom prst="rect">
            <a:avLst/>
          </a:prstGeom>
          <a:noFill/>
        </p:spPr>
        <p:txBody>
          <a:bodyPr wrap="square" lIns="0" rIns="0" tIns="0" bIns="0">
            <a:spAutoFit/>
          </a:bodyPr>
          <a:lstStyle/>
          <a:p>
            <a:pPr algn="l"/>
            <a:r>
              <a:rPr sz="2400" b="1">
                <a:solidFill>
                  <a:srgbClr val="C9184A"/>
                </a:solidFill>
                <a:latin typeface="Cambria"/>
              </a:rPr>
              <a:t>5,35</a:t>
            </a:r>
          </a:p>
        </p:txBody>
      </p:sp>
      <p:sp>
        <p:nvSpPr>
          <p:cNvPr id="7" name="TextBox 6"/>
          <p:cNvSpPr txBox="1"/>
          <p:nvPr/>
        </p:nvSpPr>
        <p:spPr>
          <a:xfrm>
            <a:off x="932688" y="2514600"/>
            <a:ext cx="2066544" cy="384048"/>
          </a:xfrm>
          <a:prstGeom prst="rect">
            <a:avLst/>
          </a:prstGeom>
          <a:noFill/>
        </p:spPr>
        <p:txBody>
          <a:bodyPr wrap="square" lIns="0" rIns="0" tIns="0" bIns="0">
            <a:spAutoFit/>
          </a:bodyPr>
          <a:lstStyle/>
          <a:p>
            <a:pPr algn="l"/>
            <a:r>
              <a:rPr sz="1000" b="0">
                <a:solidFill>
                  <a:srgbClr val="3D1B3D"/>
                </a:solidFill>
                <a:latin typeface="Calibri"/>
              </a:rPr>
              <a:t>ROAS · Winter Promo</a:t>
            </a:r>
          </a:p>
        </p:txBody>
      </p:sp>
      <p:sp>
        <p:nvSpPr>
          <p:cNvPr id="8" name="Rounded Rectangle 7"/>
          <p:cNvSpPr/>
          <p:nvPr/>
        </p:nvSpPr>
        <p:spPr>
          <a:xfrm>
            <a:off x="3401568" y="1874519"/>
            <a:ext cx="2468880" cy="1170432"/>
          </a:xfrm>
          <a:prstGeom prst="roundRect">
            <a:avLst/>
          </a:prstGeom>
          <a:solidFill>
            <a:srgbClr val="F7E8EA"/>
          </a:solidFill>
          <a:ln>
            <a:solidFill>
              <a:srgbClr val="F7E8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02736" y="2020824"/>
            <a:ext cx="2066544" cy="411480"/>
          </a:xfrm>
          <a:prstGeom prst="rect">
            <a:avLst/>
          </a:prstGeom>
          <a:noFill/>
        </p:spPr>
        <p:txBody>
          <a:bodyPr wrap="square" lIns="0" rIns="0" tIns="0" bIns="0">
            <a:spAutoFit/>
          </a:bodyPr>
          <a:lstStyle/>
          <a:p>
            <a:pPr algn="l"/>
            <a:r>
              <a:rPr sz="2400" b="1">
                <a:solidFill>
                  <a:srgbClr val="C9184A"/>
                </a:solidFill>
                <a:latin typeface="Cambria"/>
              </a:rPr>
              <a:t>9,45 €</a:t>
            </a:r>
          </a:p>
        </p:txBody>
      </p:sp>
      <p:sp>
        <p:nvSpPr>
          <p:cNvPr id="10" name="TextBox 9"/>
          <p:cNvSpPr txBox="1"/>
          <p:nvPr/>
        </p:nvSpPr>
        <p:spPr>
          <a:xfrm>
            <a:off x="3602736" y="2514600"/>
            <a:ext cx="2066544" cy="384048"/>
          </a:xfrm>
          <a:prstGeom prst="rect">
            <a:avLst/>
          </a:prstGeom>
          <a:noFill/>
        </p:spPr>
        <p:txBody>
          <a:bodyPr wrap="square" lIns="0" rIns="0" tIns="0" bIns="0">
            <a:spAutoFit/>
          </a:bodyPr>
          <a:lstStyle/>
          <a:p>
            <a:pPr algn="l"/>
            <a:r>
              <a:rPr sz="1000" b="0">
                <a:solidFill>
                  <a:srgbClr val="3D1B3D"/>
                </a:solidFill>
                <a:latin typeface="Calibri"/>
              </a:rPr>
              <a:t>CPA · Winter Promo</a:t>
            </a:r>
          </a:p>
        </p:txBody>
      </p:sp>
      <p:sp>
        <p:nvSpPr>
          <p:cNvPr id="11" name="Rounded Rectangle 10"/>
          <p:cNvSpPr/>
          <p:nvPr/>
        </p:nvSpPr>
        <p:spPr>
          <a:xfrm>
            <a:off x="6071616" y="1874519"/>
            <a:ext cx="2468880" cy="1170432"/>
          </a:xfrm>
          <a:prstGeom prst="roundRect">
            <a:avLst/>
          </a:prstGeom>
          <a:solidFill>
            <a:srgbClr val="F7E8EA"/>
          </a:solidFill>
          <a:ln>
            <a:solidFill>
              <a:srgbClr val="F7E8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72783" y="2020824"/>
            <a:ext cx="2066544" cy="411480"/>
          </a:xfrm>
          <a:prstGeom prst="rect">
            <a:avLst/>
          </a:prstGeom>
          <a:noFill/>
        </p:spPr>
        <p:txBody>
          <a:bodyPr wrap="square" lIns="0" rIns="0" tIns="0" bIns="0">
            <a:spAutoFit/>
          </a:bodyPr>
          <a:lstStyle/>
          <a:p>
            <a:pPr algn="l"/>
            <a:r>
              <a:rPr sz="2400" b="1">
                <a:solidFill>
                  <a:srgbClr val="177E89"/>
                </a:solidFill>
                <a:latin typeface="Cambria"/>
              </a:rPr>
              <a:t>573 €</a:t>
            </a:r>
          </a:p>
        </p:txBody>
      </p:sp>
      <p:sp>
        <p:nvSpPr>
          <p:cNvPr id="13" name="TextBox 12"/>
          <p:cNvSpPr txBox="1"/>
          <p:nvPr/>
        </p:nvSpPr>
        <p:spPr>
          <a:xfrm>
            <a:off x="6272783" y="2514600"/>
            <a:ext cx="2066544" cy="384048"/>
          </a:xfrm>
          <a:prstGeom prst="rect">
            <a:avLst/>
          </a:prstGeom>
          <a:noFill/>
        </p:spPr>
        <p:txBody>
          <a:bodyPr wrap="square" lIns="0" rIns="0" tIns="0" bIns="0">
            <a:spAutoFit/>
          </a:bodyPr>
          <a:lstStyle/>
          <a:p>
            <a:pPr algn="l"/>
            <a:r>
              <a:rPr sz="1000" b="0">
                <a:solidFill>
                  <a:srgbClr val="3D1B3D"/>
                </a:solidFill>
                <a:latin typeface="Calibri"/>
              </a:rPr>
              <a:t>CAC · Spring Launch</a:t>
            </a:r>
          </a:p>
        </p:txBody>
      </p:sp>
      <p:sp>
        <p:nvSpPr>
          <p:cNvPr id="14" name="Rounded Rectangle 13"/>
          <p:cNvSpPr/>
          <p:nvPr/>
        </p:nvSpPr>
        <p:spPr>
          <a:xfrm>
            <a:off x="8741664" y="1874519"/>
            <a:ext cx="2468880" cy="1170432"/>
          </a:xfrm>
          <a:prstGeom prst="roundRect">
            <a:avLst/>
          </a:prstGeom>
          <a:solidFill>
            <a:srgbClr val="F7E8EA"/>
          </a:solidFill>
          <a:ln>
            <a:solidFill>
              <a:srgbClr val="F7E8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42832" y="2020824"/>
            <a:ext cx="2066544" cy="411480"/>
          </a:xfrm>
          <a:prstGeom prst="rect">
            <a:avLst/>
          </a:prstGeom>
          <a:noFill/>
        </p:spPr>
        <p:txBody>
          <a:bodyPr wrap="square" lIns="0" rIns="0" tIns="0" bIns="0">
            <a:spAutoFit/>
          </a:bodyPr>
          <a:lstStyle/>
          <a:p>
            <a:pPr algn="l"/>
            <a:r>
              <a:rPr sz="2400" b="1">
                <a:solidFill>
                  <a:srgbClr val="177E89"/>
                </a:solidFill>
                <a:latin typeface="Cambria"/>
              </a:rPr>
              <a:t>76,5 %</a:t>
            </a:r>
          </a:p>
        </p:txBody>
      </p:sp>
      <p:sp>
        <p:nvSpPr>
          <p:cNvPr id="16" name="TextBox 15"/>
          <p:cNvSpPr txBox="1"/>
          <p:nvPr/>
        </p:nvSpPr>
        <p:spPr>
          <a:xfrm>
            <a:off x="8942832" y="2514600"/>
            <a:ext cx="2066544" cy="384048"/>
          </a:xfrm>
          <a:prstGeom prst="rect">
            <a:avLst/>
          </a:prstGeom>
          <a:noFill/>
        </p:spPr>
        <p:txBody>
          <a:bodyPr wrap="square" lIns="0" rIns="0" tIns="0" bIns="0">
            <a:spAutoFit/>
          </a:bodyPr>
          <a:lstStyle/>
          <a:p>
            <a:pPr algn="l"/>
            <a:r>
              <a:rPr sz="1000" b="0">
                <a:solidFill>
                  <a:srgbClr val="3D1B3D"/>
                </a:solidFill>
                <a:latin typeface="Calibri"/>
              </a:rPr>
              <a:t>Conversion · Spring Launch</a:t>
            </a:r>
          </a:p>
        </p:txBody>
      </p:sp>
      <p:sp>
        <p:nvSpPr>
          <p:cNvPr id="17" name="TextBox 16"/>
          <p:cNvSpPr txBox="1"/>
          <p:nvPr/>
        </p:nvSpPr>
        <p:spPr>
          <a:xfrm>
            <a:off x="731520" y="3429000"/>
            <a:ext cx="4754880" cy="365760"/>
          </a:xfrm>
          <a:prstGeom prst="rect">
            <a:avLst/>
          </a:prstGeom>
          <a:noFill/>
        </p:spPr>
        <p:txBody>
          <a:bodyPr wrap="square" lIns="0" rIns="0" tIns="0" bIns="0">
            <a:spAutoFit/>
          </a:bodyPr>
          <a:lstStyle/>
          <a:p>
            <a:pPr algn="l"/>
            <a:r>
              <a:rPr sz="1800" b="1">
                <a:solidFill>
                  <a:srgbClr val="3D1B3D"/>
                </a:solidFill>
                <a:latin typeface="Cambria"/>
              </a:rPr>
              <a:t>Le classement change avec le KPI</a:t>
            </a:r>
          </a:p>
        </p:txBody>
      </p:sp>
      <p:sp>
        <p:nvSpPr>
          <p:cNvPr id="18" name="TextBox 17"/>
          <p:cNvSpPr txBox="1"/>
          <p:nvPr/>
        </p:nvSpPr>
        <p:spPr>
          <a:xfrm>
            <a:off x="731520" y="3886200"/>
            <a:ext cx="4892040" cy="1097280"/>
          </a:xfrm>
          <a:prstGeom prst="rect">
            <a:avLst/>
          </a:prstGeom>
          <a:noFill/>
        </p:spPr>
        <p:txBody>
          <a:bodyPr wrap="square" lIns="0" rIns="0" tIns="0" bIns="0">
            <a:spAutoFit/>
          </a:bodyPr>
          <a:lstStyle/>
          <a:p>
            <a:pPr algn="l"/>
            <a:r>
              <a:rPr sz="1300" b="0">
                <a:solidFill>
                  <a:srgbClr val="8A6E82"/>
                </a:solidFill>
                <a:latin typeface="Calibri"/>
              </a:rPr>
              <a:t>Un CPA bas récompense les réachats. Le CAC isole les primo-achats. Le ROAS rapporte le revenu au coût. Aucun indicateur ne suffit seul.</a:t>
            </a:r>
          </a:p>
        </p:txBody>
      </p:sp>
      <p:sp>
        <p:nvSpPr>
          <p:cNvPr id="19" name="Rounded Rectangle 18"/>
          <p:cNvSpPr/>
          <p:nvPr/>
        </p:nvSpPr>
        <p:spPr>
          <a:xfrm>
            <a:off x="5989320" y="3401568"/>
            <a:ext cx="5212080" cy="1600200"/>
          </a:xfrm>
          <a:prstGeom prst="roundRect">
            <a:avLst/>
          </a:prstGeom>
          <a:solidFill>
            <a:srgbClr val="3D1B3D"/>
          </a:solidFill>
          <a:ln>
            <a:solidFill>
              <a:srgbClr val="3D1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3657600"/>
            <a:ext cx="4480560" cy="228600"/>
          </a:xfrm>
          <a:prstGeom prst="rect">
            <a:avLst/>
          </a:prstGeom>
          <a:noFill/>
        </p:spPr>
        <p:txBody>
          <a:bodyPr wrap="square" lIns="0" rIns="0" tIns="0" bIns="0">
            <a:spAutoFit/>
          </a:bodyPr>
          <a:lstStyle/>
          <a:p>
            <a:pPr algn="l"/>
            <a:r>
              <a:rPr sz="900" b="1">
                <a:solidFill>
                  <a:srgbClr val="E8B4BC"/>
                </a:solidFill>
                <a:latin typeface="Calibri"/>
              </a:rPr>
              <a:t>POINT DE VIGILANCE</a:t>
            </a:r>
          </a:p>
        </p:txBody>
      </p:sp>
      <p:sp>
        <p:nvSpPr>
          <p:cNvPr id="21" name="TextBox 20"/>
          <p:cNvSpPr txBox="1"/>
          <p:nvPr/>
        </p:nvSpPr>
        <p:spPr>
          <a:xfrm>
            <a:off x="6263640" y="3986784"/>
            <a:ext cx="4526280" cy="685800"/>
          </a:xfrm>
          <a:prstGeom prst="rect">
            <a:avLst/>
          </a:prstGeom>
          <a:noFill/>
        </p:spPr>
        <p:txBody>
          <a:bodyPr wrap="square" lIns="0" rIns="0" tIns="0" bIns="0">
            <a:spAutoFit/>
          </a:bodyPr>
          <a:lstStyle/>
          <a:p>
            <a:pPr algn="l"/>
            <a:r>
              <a:rPr sz="1400" b="1">
                <a:solidFill>
                  <a:srgbClr val="FFFFFF"/>
                </a:solidFill>
                <a:latin typeface="Cambria"/>
              </a:rPr>
              <a:t>Summer Sale ferme le classement : ROAS 2,74 et CAC 2 025 €. À investiguer avant reconduction.</a:t>
            </a:r>
          </a:p>
        </p:txBody>
      </p:sp>
      <p:sp>
        <p:nvSpPr>
          <p:cNvPr id="22" name="TextBox 21"/>
          <p:cNvSpPr txBox="1"/>
          <p:nvPr/>
        </p:nvSpPr>
        <p:spPr>
          <a:xfrm>
            <a:off x="640080" y="6537960"/>
            <a:ext cx="5029200" cy="182880"/>
          </a:xfrm>
          <a:prstGeom prst="rect">
            <a:avLst/>
          </a:prstGeom>
          <a:noFill/>
        </p:spPr>
        <p:txBody>
          <a:bodyPr wrap="square" lIns="0" rIns="0" tIns="0" bIns="0">
            <a:spAutoFit/>
          </a:bodyPr>
          <a:lstStyle/>
          <a:p>
            <a:pPr algn="l"/>
            <a:r>
              <a:rPr sz="800" b="0">
                <a:solidFill>
                  <a:srgbClr val="8A6E82"/>
                </a:solidFill>
                <a:latin typeface="Calibri"/>
              </a:rPr>
              <a:t>Lumina &amp; Co  ·  Restitution au CMO</a:t>
            </a:r>
          </a:p>
        </p:txBody>
      </p:sp>
      <p:sp>
        <p:nvSpPr>
          <p:cNvPr id="23" name="TextBox 22"/>
          <p:cNvSpPr txBox="1"/>
          <p:nvPr/>
        </p:nvSpPr>
        <p:spPr>
          <a:xfrm>
            <a:off x="11109960" y="6537960"/>
            <a:ext cx="411480" cy="182880"/>
          </a:xfrm>
          <a:prstGeom prst="rect">
            <a:avLst/>
          </a:prstGeom>
          <a:noFill/>
        </p:spPr>
        <p:txBody>
          <a:bodyPr wrap="square" lIns="0" rIns="0" tIns="0" bIns="0">
            <a:spAutoFit/>
          </a:bodyPr>
          <a:lstStyle/>
          <a:p>
            <a:pPr algn="r"/>
            <a:r>
              <a:rPr sz="800" b="0">
                <a:solidFill>
                  <a:srgbClr val="8A6E82"/>
                </a:solidFill>
                <a:latin typeface="Calibri"/>
              </a:rPr>
              <a:t>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881360" cy="274320"/>
          </a:xfrm>
          <a:prstGeom prst="rect">
            <a:avLst/>
          </a:prstGeom>
          <a:noFill/>
        </p:spPr>
        <p:txBody>
          <a:bodyPr wrap="square" lIns="0" rIns="0" tIns="0" bIns="0">
            <a:spAutoFit/>
          </a:bodyPr>
          <a:lstStyle/>
          <a:p>
            <a:pPr algn="l"/>
            <a:r>
              <a:rPr sz="900" b="1">
                <a:solidFill>
                  <a:srgbClr val="C9184A"/>
                </a:solidFill>
                <a:latin typeface="Calibri"/>
              </a:rPr>
              <a:t>ATTRIBUTION MULTICANAL</a:t>
            </a:r>
          </a:p>
        </p:txBody>
      </p:sp>
      <p:sp>
        <p:nvSpPr>
          <p:cNvPr id="3" name="TextBox 2"/>
          <p:cNvSpPr txBox="1"/>
          <p:nvPr/>
        </p:nvSpPr>
        <p:spPr>
          <a:xfrm>
            <a:off x="640080" y="713232"/>
            <a:ext cx="10881360" cy="594360"/>
          </a:xfrm>
          <a:prstGeom prst="rect">
            <a:avLst/>
          </a:prstGeom>
          <a:noFill/>
        </p:spPr>
        <p:txBody>
          <a:bodyPr wrap="square" lIns="0" rIns="0" tIns="0" bIns="0">
            <a:spAutoFit/>
          </a:bodyPr>
          <a:lstStyle/>
          <a:p>
            <a:pPr algn="l"/>
            <a:r>
              <a:rPr sz="2500" b="1">
                <a:solidFill>
                  <a:srgbClr val="3D1B3D"/>
                </a:solidFill>
                <a:latin typeface="Cambria"/>
              </a:rPr>
              <a:t>Le last touch efface 82 % du rôle de découverte</a:t>
            </a:r>
          </a:p>
        </p:txBody>
      </p:sp>
      <p:sp>
        <p:nvSpPr>
          <p:cNvPr id="4" name="TextBox 3"/>
          <p:cNvSpPr txBox="1"/>
          <p:nvPr/>
        </p:nvSpPr>
        <p:spPr>
          <a:xfrm>
            <a:off x="640080" y="1261872"/>
            <a:ext cx="10881360" cy="411480"/>
          </a:xfrm>
          <a:prstGeom prst="rect">
            <a:avLst/>
          </a:prstGeom>
          <a:noFill/>
        </p:spPr>
        <p:txBody>
          <a:bodyPr wrap="square" lIns="0" rIns="0" tIns="0" bIns="0">
            <a:spAutoFit/>
          </a:bodyPr>
          <a:lstStyle/>
          <a:p>
            <a:pPr algn="l"/>
            <a:r>
              <a:rPr sz="1200" b="0">
                <a:solidFill>
                  <a:srgbClr val="8A6E82"/>
                </a:solidFill>
                <a:latin typeface="Calibri"/>
              </a:rPr>
              <a:t>94 366 conversions · 5,03 contacts par parcours · 99 % de parcours multicanaux</a:t>
            </a:r>
          </a:p>
        </p:txBody>
      </p:sp>
      <p:pic>
        <p:nvPicPr>
          <p:cNvPr id="5" name="Picture 4" descr="attribution_multicanal.png"/>
          <p:cNvPicPr>
            <a:picLocks noChangeAspect="1"/>
          </p:cNvPicPr>
          <p:nvPr/>
        </p:nvPicPr>
        <p:blipFill>
          <a:blip r:embed="rId2"/>
          <a:stretch>
            <a:fillRect/>
          </a:stretch>
        </p:blipFill>
        <p:spPr>
          <a:xfrm>
            <a:off x="566928" y="1691640"/>
            <a:ext cx="7635240" cy="3423367"/>
          </a:xfrm>
          <a:prstGeom prst="rect">
            <a:avLst/>
          </a:prstGeom>
        </p:spPr>
      </p:pic>
      <p:sp>
        <p:nvSpPr>
          <p:cNvPr id="6" name="Rounded Rectangle 5"/>
          <p:cNvSpPr/>
          <p:nvPr/>
        </p:nvSpPr>
        <p:spPr>
          <a:xfrm>
            <a:off x="8366760" y="1737360"/>
            <a:ext cx="3154680" cy="4069080"/>
          </a:xfrm>
          <a:prstGeom prst="roundRect">
            <a:avLst/>
          </a:prstGeom>
          <a:solidFill>
            <a:srgbClr val="3D1B3D"/>
          </a:solidFill>
          <a:ln>
            <a:solidFill>
              <a:srgbClr val="3D1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68512" y="2057400"/>
            <a:ext cx="2560320" cy="228600"/>
          </a:xfrm>
          <a:prstGeom prst="rect">
            <a:avLst/>
          </a:prstGeom>
          <a:noFill/>
        </p:spPr>
        <p:txBody>
          <a:bodyPr wrap="square" lIns="0" rIns="0" tIns="0" bIns="0">
            <a:spAutoFit/>
          </a:bodyPr>
          <a:lstStyle/>
          <a:p>
            <a:pPr algn="l"/>
            <a:r>
              <a:rPr sz="900" b="1">
                <a:solidFill>
                  <a:srgbClr val="E8B4BC"/>
                </a:solidFill>
                <a:latin typeface="Calibri"/>
              </a:rPr>
              <a:t>FIRST TOUCH</a:t>
            </a:r>
          </a:p>
        </p:txBody>
      </p:sp>
      <p:sp>
        <p:nvSpPr>
          <p:cNvPr id="8" name="TextBox 7"/>
          <p:cNvSpPr txBox="1"/>
          <p:nvPr/>
        </p:nvSpPr>
        <p:spPr>
          <a:xfrm>
            <a:off x="8668512" y="2359152"/>
            <a:ext cx="2560320" cy="457200"/>
          </a:xfrm>
          <a:prstGeom prst="rect">
            <a:avLst/>
          </a:prstGeom>
          <a:noFill/>
        </p:spPr>
        <p:txBody>
          <a:bodyPr wrap="square" lIns="0" rIns="0" tIns="0" bIns="0">
            <a:spAutoFit/>
          </a:bodyPr>
          <a:lstStyle/>
          <a:p>
            <a:pPr algn="l"/>
            <a:r>
              <a:rPr sz="2700" b="1">
                <a:solidFill>
                  <a:srgbClr val="FFFFFF"/>
                </a:solidFill>
                <a:latin typeface="Cambria"/>
              </a:rPr>
              <a:t>82,0 %</a:t>
            </a:r>
          </a:p>
        </p:txBody>
      </p:sp>
      <p:sp>
        <p:nvSpPr>
          <p:cNvPr id="9" name="TextBox 8"/>
          <p:cNvSpPr txBox="1"/>
          <p:nvPr/>
        </p:nvSpPr>
        <p:spPr>
          <a:xfrm>
            <a:off x="8668512" y="2852928"/>
            <a:ext cx="2468880" cy="594360"/>
          </a:xfrm>
          <a:prstGeom prst="rect">
            <a:avLst/>
          </a:prstGeom>
          <a:noFill/>
        </p:spPr>
        <p:txBody>
          <a:bodyPr wrap="square" lIns="0" rIns="0" tIns="0" bIns="0">
            <a:spAutoFit/>
          </a:bodyPr>
          <a:lstStyle/>
          <a:p>
            <a:pPr algn="l"/>
            <a:r>
              <a:rPr sz="1100" b="0">
                <a:solidFill>
                  <a:srgbClr val="E8B4BC"/>
                </a:solidFill>
                <a:latin typeface="Calibri"/>
              </a:rPr>
              <a:t>du CA commence par display ou social</a:t>
            </a:r>
          </a:p>
        </p:txBody>
      </p:sp>
      <p:sp>
        <p:nvSpPr>
          <p:cNvPr id="10" name="TextBox 9"/>
          <p:cNvSpPr txBox="1"/>
          <p:nvPr/>
        </p:nvSpPr>
        <p:spPr>
          <a:xfrm>
            <a:off x="8668512" y="3703320"/>
            <a:ext cx="2560320" cy="228600"/>
          </a:xfrm>
          <a:prstGeom prst="rect">
            <a:avLst/>
          </a:prstGeom>
          <a:noFill/>
        </p:spPr>
        <p:txBody>
          <a:bodyPr wrap="square" lIns="0" rIns="0" tIns="0" bIns="0">
            <a:spAutoFit/>
          </a:bodyPr>
          <a:lstStyle/>
          <a:p>
            <a:pPr algn="l"/>
            <a:r>
              <a:rPr sz="900" b="1">
                <a:solidFill>
                  <a:srgbClr val="E8B4BC"/>
                </a:solidFill>
                <a:latin typeface="Calibri"/>
              </a:rPr>
              <a:t>LAST TOUCH</a:t>
            </a:r>
          </a:p>
        </p:txBody>
      </p:sp>
      <p:sp>
        <p:nvSpPr>
          <p:cNvPr id="11" name="TextBox 10"/>
          <p:cNvSpPr txBox="1"/>
          <p:nvPr/>
        </p:nvSpPr>
        <p:spPr>
          <a:xfrm>
            <a:off x="8668512" y="4005072"/>
            <a:ext cx="2560320" cy="457200"/>
          </a:xfrm>
          <a:prstGeom prst="rect">
            <a:avLst/>
          </a:prstGeom>
          <a:noFill/>
        </p:spPr>
        <p:txBody>
          <a:bodyPr wrap="square" lIns="0" rIns="0" tIns="0" bIns="0">
            <a:spAutoFit/>
          </a:bodyPr>
          <a:lstStyle/>
          <a:p>
            <a:pPr algn="l"/>
            <a:r>
              <a:rPr sz="2700" b="1">
                <a:solidFill>
                  <a:srgbClr val="FFFFFF"/>
                </a:solidFill>
                <a:latin typeface="Cambria"/>
              </a:rPr>
              <a:t>53,1 %</a:t>
            </a:r>
          </a:p>
        </p:txBody>
      </p:sp>
      <p:sp>
        <p:nvSpPr>
          <p:cNvPr id="12" name="TextBox 11"/>
          <p:cNvSpPr txBox="1"/>
          <p:nvPr/>
        </p:nvSpPr>
        <p:spPr>
          <a:xfrm>
            <a:off x="8668512" y="4498848"/>
            <a:ext cx="2468880" cy="594360"/>
          </a:xfrm>
          <a:prstGeom prst="rect">
            <a:avLst/>
          </a:prstGeom>
          <a:noFill/>
        </p:spPr>
        <p:txBody>
          <a:bodyPr wrap="square" lIns="0" rIns="0" tIns="0" bIns="0">
            <a:spAutoFit/>
          </a:bodyPr>
          <a:lstStyle/>
          <a:p>
            <a:pPr algn="l"/>
            <a:r>
              <a:rPr sz="1100" b="0">
                <a:solidFill>
                  <a:srgbClr val="E8B4BC"/>
                </a:solidFill>
                <a:latin typeface="Calibri"/>
              </a:rPr>
              <a:t>du CA finit par affiliation ou retargeting</a:t>
            </a:r>
          </a:p>
        </p:txBody>
      </p:sp>
      <p:sp>
        <p:nvSpPr>
          <p:cNvPr id="13" name="TextBox 12"/>
          <p:cNvSpPr txBox="1"/>
          <p:nvPr/>
        </p:nvSpPr>
        <p:spPr>
          <a:xfrm>
            <a:off x="8668512" y="5230368"/>
            <a:ext cx="2468880" cy="365760"/>
          </a:xfrm>
          <a:prstGeom prst="rect">
            <a:avLst/>
          </a:prstGeom>
          <a:noFill/>
        </p:spPr>
        <p:txBody>
          <a:bodyPr wrap="square" lIns="0" rIns="0" tIns="0" bIns="0">
            <a:spAutoFit/>
          </a:bodyPr>
          <a:lstStyle/>
          <a:p>
            <a:pPr algn="l"/>
            <a:r>
              <a:rPr sz="1100" b="1">
                <a:solidFill>
                  <a:srgbClr val="FFFFFF"/>
                </a:solidFill>
                <a:latin typeface="Calibri"/>
              </a:rPr>
              <a:t>Conclusion : aucun modèle mono-touch ne suffit.</a:t>
            </a:r>
          </a:p>
        </p:txBody>
      </p:sp>
      <p:sp>
        <p:nvSpPr>
          <p:cNvPr id="14" name="TextBox 13"/>
          <p:cNvSpPr txBox="1"/>
          <p:nvPr/>
        </p:nvSpPr>
        <p:spPr>
          <a:xfrm>
            <a:off x="640080" y="6537960"/>
            <a:ext cx="5029200" cy="182880"/>
          </a:xfrm>
          <a:prstGeom prst="rect">
            <a:avLst/>
          </a:prstGeom>
          <a:noFill/>
        </p:spPr>
        <p:txBody>
          <a:bodyPr wrap="square" lIns="0" rIns="0" tIns="0" bIns="0">
            <a:spAutoFit/>
          </a:bodyPr>
          <a:lstStyle/>
          <a:p>
            <a:pPr algn="l"/>
            <a:r>
              <a:rPr sz="800" b="0">
                <a:solidFill>
                  <a:srgbClr val="8A6E82"/>
                </a:solidFill>
                <a:latin typeface="Calibri"/>
              </a:rPr>
              <a:t>Lumina &amp; Co  ·  Restitution au CMO</a:t>
            </a:r>
          </a:p>
        </p:txBody>
      </p:sp>
      <p:sp>
        <p:nvSpPr>
          <p:cNvPr id="15" name="TextBox 14"/>
          <p:cNvSpPr txBox="1"/>
          <p:nvPr/>
        </p:nvSpPr>
        <p:spPr>
          <a:xfrm>
            <a:off x="11109960" y="6537960"/>
            <a:ext cx="411480" cy="182880"/>
          </a:xfrm>
          <a:prstGeom prst="rect">
            <a:avLst/>
          </a:prstGeom>
          <a:noFill/>
        </p:spPr>
        <p:txBody>
          <a:bodyPr wrap="square" lIns="0" rIns="0" tIns="0" bIns="0">
            <a:spAutoFit/>
          </a:bodyPr>
          <a:lstStyle/>
          <a:p>
            <a:pPr algn="r"/>
            <a:r>
              <a:rPr sz="800" b="0">
                <a:solidFill>
                  <a:srgbClr val="8A6E82"/>
                </a:solidFill>
                <a:latin typeface="Calibri"/>
              </a:rPr>
              <a:t>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881360" cy="274320"/>
          </a:xfrm>
          <a:prstGeom prst="rect">
            <a:avLst/>
          </a:prstGeom>
          <a:noFill/>
        </p:spPr>
        <p:txBody>
          <a:bodyPr wrap="square" lIns="0" rIns="0" tIns="0" bIns="0">
            <a:spAutoFit/>
          </a:bodyPr>
          <a:lstStyle/>
          <a:p>
            <a:pPr algn="l"/>
            <a:r>
              <a:rPr sz="900" b="1">
                <a:solidFill>
                  <a:srgbClr val="C9184A"/>
                </a:solidFill>
                <a:latin typeface="Calibri"/>
              </a:rPr>
              <a:t>ARBITRAGE BUDGÉTAIRE</a:t>
            </a:r>
          </a:p>
        </p:txBody>
      </p:sp>
      <p:sp>
        <p:nvSpPr>
          <p:cNvPr id="3" name="TextBox 2"/>
          <p:cNvSpPr txBox="1"/>
          <p:nvPr/>
        </p:nvSpPr>
        <p:spPr>
          <a:xfrm>
            <a:off x="640080" y="713232"/>
            <a:ext cx="10881360" cy="594360"/>
          </a:xfrm>
          <a:prstGeom prst="rect">
            <a:avLst/>
          </a:prstGeom>
          <a:noFill/>
        </p:spPr>
        <p:txBody>
          <a:bodyPr wrap="square" lIns="0" rIns="0" tIns="0" bIns="0">
            <a:spAutoFit/>
          </a:bodyPr>
          <a:lstStyle/>
          <a:p>
            <a:pPr algn="l"/>
            <a:r>
              <a:rPr sz="2500" b="1">
                <a:solidFill>
                  <a:srgbClr val="3D1B3D"/>
                </a:solidFill>
                <a:latin typeface="Cambria"/>
              </a:rPr>
              <a:t>Rééquilibrer par le test, pas par une règle d'attribution</a:t>
            </a:r>
          </a:p>
        </p:txBody>
      </p:sp>
      <p:sp>
        <p:nvSpPr>
          <p:cNvPr id="4" name="TextBox 3"/>
          <p:cNvSpPr txBox="1"/>
          <p:nvPr/>
        </p:nvSpPr>
        <p:spPr>
          <a:xfrm>
            <a:off x="640080" y="1261872"/>
            <a:ext cx="10881360" cy="411480"/>
          </a:xfrm>
          <a:prstGeom prst="rect">
            <a:avLst/>
          </a:prstGeom>
          <a:noFill/>
        </p:spPr>
        <p:txBody>
          <a:bodyPr wrap="square" lIns="0" rIns="0" tIns="0" bIns="0">
            <a:spAutoFit/>
          </a:bodyPr>
          <a:lstStyle/>
          <a:p>
            <a:pPr algn="l"/>
            <a:r>
              <a:rPr sz="1200" b="0">
                <a:solidFill>
                  <a:srgbClr val="8A6E82"/>
                </a:solidFill>
                <a:latin typeface="Calibri"/>
              </a:rPr>
              <a:t>L'attribution décrit le parcours ; seule l'incrémentalité mesure l'effet réel.</a:t>
            </a:r>
          </a:p>
        </p:txBody>
      </p:sp>
      <p:sp>
        <p:nvSpPr>
          <p:cNvPr id="5" name="Oval 4"/>
          <p:cNvSpPr/>
          <p:nvPr/>
        </p:nvSpPr>
        <p:spPr>
          <a:xfrm>
            <a:off x="731520" y="1874519"/>
            <a:ext cx="438912" cy="438912"/>
          </a:xfrm>
          <a:prstGeom prst="ellipse">
            <a:avLst/>
          </a:prstGeom>
          <a:solidFill>
            <a:srgbClr val="C9184A"/>
          </a:solidFill>
          <a:ln>
            <a:solidFill>
              <a:srgbClr val="C91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1</a:t>
            </a:r>
          </a:p>
        </p:txBody>
      </p:sp>
      <p:sp>
        <p:nvSpPr>
          <p:cNvPr id="6" name="TextBox 5"/>
          <p:cNvSpPr txBox="1"/>
          <p:nvPr/>
        </p:nvSpPr>
        <p:spPr>
          <a:xfrm>
            <a:off x="1371600" y="1856231"/>
            <a:ext cx="3657600" cy="320040"/>
          </a:xfrm>
          <a:prstGeom prst="rect">
            <a:avLst/>
          </a:prstGeom>
          <a:noFill/>
        </p:spPr>
        <p:txBody>
          <a:bodyPr wrap="square" lIns="0" rIns="0" tIns="0" bIns="0">
            <a:spAutoFit/>
          </a:bodyPr>
          <a:lstStyle/>
          <a:p>
            <a:pPr algn="l"/>
            <a:r>
              <a:rPr sz="1500" b="1">
                <a:solidFill>
                  <a:srgbClr val="3D1B3D"/>
                </a:solidFill>
                <a:latin typeface="Cambria"/>
              </a:rPr>
              <a:t>Auditer l'affiliation</a:t>
            </a:r>
          </a:p>
        </p:txBody>
      </p:sp>
      <p:sp>
        <p:nvSpPr>
          <p:cNvPr id="7" name="TextBox 6"/>
          <p:cNvSpPr txBox="1"/>
          <p:nvPr/>
        </p:nvSpPr>
        <p:spPr>
          <a:xfrm>
            <a:off x="4572000" y="1856231"/>
            <a:ext cx="6766560" cy="566928"/>
          </a:xfrm>
          <a:prstGeom prst="rect">
            <a:avLst/>
          </a:prstGeom>
          <a:noFill/>
        </p:spPr>
        <p:txBody>
          <a:bodyPr wrap="square" lIns="0" rIns="0" tIns="0" bIns="0">
            <a:spAutoFit/>
          </a:bodyPr>
          <a:lstStyle/>
          <a:p>
            <a:pPr algn="l"/>
            <a:r>
              <a:rPr sz="1100" b="0">
                <a:solidFill>
                  <a:srgbClr val="8A6E82"/>
                </a:solidFill>
                <a:latin typeface="Calibri"/>
              </a:rPr>
              <a:t>83,7 % du coût observé, contre 15,7 % du CA en attribution linéaire.</a:t>
            </a:r>
          </a:p>
        </p:txBody>
      </p:sp>
      <p:sp>
        <p:nvSpPr>
          <p:cNvPr id="8" name="Oval 7"/>
          <p:cNvSpPr/>
          <p:nvPr/>
        </p:nvSpPr>
        <p:spPr>
          <a:xfrm>
            <a:off x="731520" y="2880360"/>
            <a:ext cx="438912" cy="438912"/>
          </a:xfrm>
          <a:prstGeom prst="ellipse">
            <a:avLst/>
          </a:prstGeom>
          <a:solidFill>
            <a:srgbClr val="C9184A"/>
          </a:solidFill>
          <a:ln>
            <a:solidFill>
              <a:srgbClr val="C91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2</a:t>
            </a:r>
          </a:p>
        </p:txBody>
      </p:sp>
      <p:sp>
        <p:nvSpPr>
          <p:cNvPr id="9" name="TextBox 8"/>
          <p:cNvSpPr txBox="1"/>
          <p:nvPr/>
        </p:nvSpPr>
        <p:spPr>
          <a:xfrm>
            <a:off x="1371600" y="2862072"/>
            <a:ext cx="3657600" cy="320040"/>
          </a:xfrm>
          <a:prstGeom prst="rect">
            <a:avLst/>
          </a:prstGeom>
          <a:noFill/>
        </p:spPr>
        <p:txBody>
          <a:bodyPr wrap="square" lIns="0" rIns="0" tIns="0" bIns="0">
            <a:spAutoFit/>
          </a:bodyPr>
          <a:lstStyle/>
          <a:p>
            <a:pPr algn="l"/>
            <a:r>
              <a:rPr sz="1500" b="1">
                <a:solidFill>
                  <a:srgbClr val="3D1B3D"/>
                </a:solidFill>
                <a:latin typeface="Cambria"/>
              </a:rPr>
              <a:t>Protéger la découverte</a:t>
            </a:r>
          </a:p>
        </p:txBody>
      </p:sp>
      <p:sp>
        <p:nvSpPr>
          <p:cNvPr id="10" name="TextBox 9"/>
          <p:cNvSpPr txBox="1"/>
          <p:nvPr/>
        </p:nvSpPr>
        <p:spPr>
          <a:xfrm>
            <a:off x="4572000" y="2862072"/>
            <a:ext cx="6766560" cy="566928"/>
          </a:xfrm>
          <a:prstGeom prst="rect">
            <a:avLst/>
          </a:prstGeom>
          <a:noFill/>
        </p:spPr>
        <p:txBody>
          <a:bodyPr wrap="square" lIns="0" rIns="0" tIns="0" bIns="0">
            <a:spAutoFit/>
          </a:bodyPr>
          <a:lstStyle/>
          <a:p>
            <a:pPr algn="l"/>
            <a:r>
              <a:rPr sz="1100" b="0">
                <a:solidFill>
                  <a:srgbClr val="8A6E82"/>
                </a:solidFill>
                <a:latin typeface="Calibri"/>
              </a:rPr>
              <a:t>Conserver un budget test display et social : ils ouvrent 82,0 % du CA attribué.</a:t>
            </a:r>
          </a:p>
        </p:txBody>
      </p:sp>
      <p:sp>
        <p:nvSpPr>
          <p:cNvPr id="11" name="Oval 10"/>
          <p:cNvSpPr/>
          <p:nvPr/>
        </p:nvSpPr>
        <p:spPr>
          <a:xfrm>
            <a:off x="731520" y="3886200"/>
            <a:ext cx="438912" cy="438912"/>
          </a:xfrm>
          <a:prstGeom prst="ellipse">
            <a:avLst/>
          </a:prstGeom>
          <a:solidFill>
            <a:srgbClr val="C9184A"/>
          </a:solidFill>
          <a:ln>
            <a:solidFill>
              <a:srgbClr val="C91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3</a:t>
            </a:r>
          </a:p>
        </p:txBody>
      </p:sp>
      <p:sp>
        <p:nvSpPr>
          <p:cNvPr id="12" name="TextBox 11"/>
          <p:cNvSpPr txBox="1"/>
          <p:nvPr/>
        </p:nvSpPr>
        <p:spPr>
          <a:xfrm>
            <a:off x="1371600" y="3867912"/>
            <a:ext cx="3657600" cy="320040"/>
          </a:xfrm>
          <a:prstGeom prst="rect">
            <a:avLst/>
          </a:prstGeom>
          <a:noFill/>
        </p:spPr>
        <p:txBody>
          <a:bodyPr wrap="square" lIns="0" rIns="0" tIns="0" bIns="0">
            <a:spAutoFit/>
          </a:bodyPr>
          <a:lstStyle/>
          <a:p>
            <a:pPr algn="l"/>
            <a:r>
              <a:rPr sz="1500" b="1">
                <a:solidFill>
                  <a:srgbClr val="3D1B3D"/>
                </a:solidFill>
                <a:latin typeface="Cambria"/>
              </a:rPr>
              <a:t>Tester les canaux de fermeture</a:t>
            </a:r>
          </a:p>
        </p:txBody>
      </p:sp>
      <p:sp>
        <p:nvSpPr>
          <p:cNvPr id="13" name="TextBox 12"/>
          <p:cNvSpPr txBox="1"/>
          <p:nvPr/>
        </p:nvSpPr>
        <p:spPr>
          <a:xfrm>
            <a:off x="4572000" y="3867912"/>
            <a:ext cx="6766560" cy="566928"/>
          </a:xfrm>
          <a:prstGeom prst="rect">
            <a:avLst/>
          </a:prstGeom>
          <a:noFill/>
        </p:spPr>
        <p:txBody>
          <a:bodyPr wrap="square" lIns="0" rIns="0" tIns="0" bIns="0">
            <a:spAutoFit/>
          </a:bodyPr>
          <a:lstStyle/>
          <a:p>
            <a:pPr algn="l"/>
            <a:r>
              <a:rPr sz="1100" b="0">
                <a:solidFill>
                  <a:srgbClr val="8A6E82"/>
                </a:solidFill>
                <a:latin typeface="Calibri"/>
              </a:rPr>
              <a:t>Holdouts pour email et retargeting ; suivi CPA, CAC, marge et revenu incrémental.</a:t>
            </a:r>
          </a:p>
        </p:txBody>
      </p:sp>
      <p:sp>
        <p:nvSpPr>
          <p:cNvPr id="14" name="Rounded Rectangle 13"/>
          <p:cNvSpPr/>
          <p:nvPr/>
        </p:nvSpPr>
        <p:spPr>
          <a:xfrm>
            <a:off x="731520" y="5074920"/>
            <a:ext cx="10469880" cy="841248"/>
          </a:xfrm>
          <a:prstGeom prst="roundRect">
            <a:avLst/>
          </a:prstGeom>
          <a:solidFill>
            <a:srgbClr val="F7E8EA"/>
          </a:solidFill>
          <a:ln>
            <a:solidFill>
              <a:srgbClr val="F7E8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5321808"/>
            <a:ext cx="1325880" cy="201168"/>
          </a:xfrm>
          <a:prstGeom prst="rect">
            <a:avLst/>
          </a:prstGeom>
          <a:noFill/>
        </p:spPr>
        <p:txBody>
          <a:bodyPr wrap="square" lIns="0" rIns="0" tIns="0" bIns="0">
            <a:spAutoFit/>
          </a:bodyPr>
          <a:lstStyle/>
          <a:p>
            <a:pPr algn="l"/>
            <a:r>
              <a:rPr sz="900" b="1">
                <a:solidFill>
                  <a:srgbClr val="C9184A"/>
                </a:solidFill>
                <a:latin typeface="Calibri"/>
              </a:rPr>
              <a:t>CONFIANCE DATA</a:t>
            </a:r>
          </a:p>
        </p:txBody>
      </p:sp>
      <p:sp>
        <p:nvSpPr>
          <p:cNvPr id="16" name="TextBox 15"/>
          <p:cNvSpPr txBox="1"/>
          <p:nvPr/>
        </p:nvSpPr>
        <p:spPr>
          <a:xfrm>
            <a:off x="2331720" y="5230368"/>
            <a:ext cx="8458200" cy="411480"/>
          </a:xfrm>
          <a:prstGeom prst="rect">
            <a:avLst/>
          </a:prstGeom>
          <a:noFill/>
        </p:spPr>
        <p:txBody>
          <a:bodyPr wrap="square" lIns="0" rIns="0" tIns="0" bIns="0">
            <a:spAutoFit/>
          </a:bodyPr>
          <a:lstStyle/>
          <a:p>
            <a:pPr algn="l"/>
            <a:r>
              <a:rPr sz="1200" b="1">
                <a:solidFill>
                  <a:srgbClr val="3D1B3D"/>
                </a:solidFill>
                <a:latin typeface="Calibri"/>
              </a:rPr>
              <a:t>Réconcilier le CA campagnes (5,56 M€) et le CA des factures converties (18,40 M€) avant une réallocation majeure.</a:t>
            </a:r>
          </a:p>
        </p:txBody>
      </p:sp>
      <p:sp>
        <p:nvSpPr>
          <p:cNvPr id="17" name="TextBox 16"/>
          <p:cNvSpPr txBox="1"/>
          <p:nvPr/>
        </p:nvSpPr>
        <p:spPr>
          <a:xfrm>
            <a:off x="640080" y="6537960"/>
            <a:ext cx="5029200" cy="182880"/>
          </a:xfrm>
          <a:prstGeom prst="rect">
            <a:avLst/>
          </a:prstGeom>
          <a:noFill/>
        </p:spPr>
        <p:txBody>
          <a:bodyPr wrap="square" lIns="0" rIns="0" tIns="0" bIns="0">
            <a:spAutoFit/>
          </a:bodyPr>
          <a:lstStyle/>
          <a:p>
            <a:pPr algn="l"/>
            <a:r>
              <a:rPr sz="800" b="0">
                <a:solidFill>
                  <a:srgbClr val="8A6E82"/>
                </a:solidFill>
                <a:latin typeface="Calibri"/>
              </a:rPr>
              <a:t>Lumina &amp; Co  ·  Restitution au CMO</a:t>
            </a:r>
          </a:p>
        </p:txBody>
      </p:sp>
      <p:sp>
        <p:nvSpPr>
          <p:cNvPr id="18" name="TextBox 17"/>
          <p:cNvSpPr txBox="1"/>
          <p:nvPr/>
        </p:nvSpPr>
        <p:spPr>
          <a:xfrm>
            <a:off x="11109960" y="6537960"/>
            <a:ext cx="411480" cy="182880"/>
          </a:xfrm>
          <a:prstGeom prst="rect">
            <a:avLst/>
          </a:prstGeom>
          <a:noFill/>
        </p:spPr>
        <p:txBody>
          <a:bodyPr wrap="square" lIns="0" rIns="0" tIns="0" bIns="0">
            <a:spAutoFit/>
          </a:bodyPr>
          <a:lstStyle/>
          <a:p>
            <a:pPr algn="r"/>
            <a:r>
              <a:rPr sz="800" b="0">
                <a:solidFill>
                  <a:srgbClr val="8A6E82"/>
                </a:solidFill>
                <a:latin typeface="Calibri"/>
              </a:rP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Lumina and 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Reactiver les clients a risque</dc:title>
  <dc:subject>PptxGenJS Presentation</dc:subject>
  <dc:creator>Lumina and Co</dc:creator>
  <cp:lastModifiedBy>Lumina and Co</cp:lastModifiedBy>
  <cp:revision>1</cp:revision>
  <dcterms:created xsi:type="dcterms:W3CDTF">2026-09-10T12:46:34Z</dcterms:created>
  <dcterms:modified xsi:type="dcterms:W3CDTF">2026-09-10T12:46:34Z</dcterms:modified>
</cp:coreProperties>
</file>