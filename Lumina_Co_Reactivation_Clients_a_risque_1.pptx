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 de la base (%)</c:v>
                </c:pt>
              </c:strCache>
            </c:strRef>
          </c:tx>
          <c:spPr>
            <a:solidFill>
              <a:srgbClr val="E8B4BC"/>
            </a:solidFill>
            <a:effectLst/>
          </c:spPr>
          <c:invertIfNegative val="0"/>
          <c:dLbls>
            <c:numFmt formatCode="0.0" sourceLinked="0"/>
            <c:txPr>
              <a:bodyPr/>
              <a:lstStyle/>
              <a:p>
                <a:pPr>
                  <a:defRPr b="0" i="0" strike="noStrike" sz="1000" u="none">
                    <a:solidFill>
                      <a:srgbClr val="3D1B3D"/>
                    </a:solidFill>
                    <a:latin typeface="Arial"/>
                  </a:defRPr>
                </a:pPr>
              </a:p>
            </c:txPr>
            <c:showLegendKey val="0"/>
            <c:showVal val="1"/>
            <c:showCatName val="0"/>
            <c:showSerName val="0"/>
            <c:showPercent val="0"/>
            <c:showBubbleSize val="0"/>
            <c:showLeaderLines val="0"/>
          </c:dLbls>
          <c:cat>
            <c:multiLvlStrRef>
              <c:f>Sheet1!$A$2:$A$4</c:f>
              <c:multiLvlStrCache>
                <c:ptCount val="3"/>
                <c:lvl>
                  <c:pt idx="0">
                    <c:v>Perdus</c:v>
                  </c:pt>
                  <c:pt idx="1">
                    <c:v>À risque</c:v>
                  </c:pt>
                  <c:pt idx="2">
                    <c:v>Champions</c:v>
                  </c:pt>
                </c:lvl>
              </c:multiLvlStrCache>
            </c:multiLvlStrRef>
          </c:cat>
          <c:val>
            <c:numRef>
              <c:f>Sheet1!$B$2:$B$4</c:f>
              <c:numCache>
                <c:formatCode>General</c:formatCode>
                <c:ptCount val="3"/>
                <c:pt idx="0">
                  <c:v>21.8</c:v>
                </c:pt>
                <c:pt idx="1">
                  <c:v>9.6</c:v>
                </c:pt>
                <c:pt idx="2">
                  <c:v>19</c:v>
                </c:pt>
              </c:numCache>
            </c:numRef>
          </c:val>
        </c:ser>
        <c:ser>
          <c:idx val="1"/>
          <c:order val="1"/>
          <c:tx>
            <c:strRef>
              <c:f>Sheet1!$C$1</c:f>
              <c:strCache>
                <c:ptCount val="1"/>
                <c:pt idx="0">
                  <c:v>Part du CA net (%)</c:v>
                </c:pt>
              </c:strCache>
            </c:strRef>
          </c:tx>
          <c:spPr>
            <a:solidFill>
              <a:srgbClr val="C9184A"/>
            </a:solidFill>
            <a:effectLst/>
          </c:spPr>
          <c:invertIfNegative val="0"/>
          <c:dLbls>
            <c:numFmt formatCode="0.0" sourceLinked="0"/>
            <c:txPr>
              <a:bodyPr/>
              <a:lstStyle/>
              <a:p>
                <a:pPr>
                  <a:defRPr b="0" i="0" strike="noStrike" sz="1000" u="none">
                    <a:solidFill>
                      <a:srgbClr val="3D1B3D"/>
                    </a:solidFill>
                    <a:latin typeface="Arial"/>
                  </a:defRPr>
                </a:pPr>
              </a:p>
            </c:txPr>
            <c:showLegendKey val="0"/>
            <c:showVal val="1"/>
            <c:showCatName val="0"/>
            <c:showSerName val="0"/>
            <c:showPercent val="0"/>
            <c:showBubbleSize val="0"/>
            <c:showLeaderLines val="0"/>
          </c:dLbls>
          <c:cat>
            <c:multiLvlStrRef>
              <c:f>Sheet1!$A$2:$A$4</c:f>
              <c:multiLvlStrCache>
                <c:ptCount val="3"/>
                <c:lvl>
                  <c:pt idx="0">
                    <c:v>Perdus</c:v>
                  </c:pt>
                  <c:pt idx="1">
                    <c:v>À risque</c:v>
                  </c:pt>
                  <c:pt idx="2">
                    <c:v>Champions</c:v>
                  </c:pt>
                </c:lvl>
              </c:multiLvlStrCache>
            </c:multiLvlStrRef>
          </c:cat>
          <c:val>
            <c:numRef>
              <c:f>Sheet1!$C$2:$C$4</c:f>
              <c:numCache>
                <c:formatCode>General</c:formatCode>
                <c:ptCount val="3"/>
                <c:pt idx="0">
                  <c:v>2</c:v>
                </c:pt>
                <c:pt idx="1">
                  <c:v>8.1</c:v>
                </c:pt>
                <c:pt idx="2">
                  <c:v>61.7</c:v>
                </c:pt>
              </c:numCache>
            </c:numRef>
          </c:val>
        </c:ser>
        <c:dLbls>
          <c:numFmt formatCode="0.0" sourceLinked="0"/>
          <c:txPr>
            <a:bodyPr/>
            <a:lstStyle/>
            <a:p>
              <a:pPr>
                <a:defRPr b="0" i="0" strike="noStrike" sz="1000" u="none">
                  <a:solidFill>
                    <a:srgbClr val="3D1B3D"/>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D1B3D"/>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8A6E82"/>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Aujourd'hui, un problème concret : sur nos 49 184 clients, 4 704 sont a risque. Panier median de 355e sur 4 commandes, un profil proche de nos clients fideles. Sauf qu'ils n'ont rien achete depuis 454 jours. Sans action, ces 3,2 millions d'euros de chiffre d'affaires historique risquent de basculer vers la categorie perdus, qui ne pese plus que 2% de notre CA. La question : peut-on les faire revenir avant qu'il ne soit trop tard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Trois choses ressortent des donnees. D'abord, ces clients achetent comme nos fideles, ce qui a change ce n'est pas leur interet pour la marque, c'est uniquement leur activite recente. Ensuite, sans action, ils suivent la meme pente qui a vide la valeur des clients perdus, sauf qu'ici on parle d'une valeur individuelle bien plus elevee a sauver. Enfin, on ne peut pas personnaliser sur leurs preferences declarees, a peine 38% les ont renseignees, mais on a un levier fiable et disponible a 100% : leur historique d'achat. (Les chiffres derriere ces trois points arrivent sur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Voici les chiffres derriere les trois constats precedents (montrer le graphique). Les perdus representent 21,8% de notre base mais ne pesent plus que 2% du CA net : c'est la pente que je mentionnais. Les a risque, eux, sont 9,6% de la base pour 8,1% du CA, une contribution largement proportionnelle, donc une valeur encore intacte. Le tableau a cote confirme l'ecart : sur frequence et montant median, 7 commandes et 498 euros, les a risque ressemblent aux fideles ; seule la recence les rapproche des perdus, 454 jours contre 647 pour les perdus et 181 pour les fideles. Concretement, ce sont des clients fideles qui n'ont plus achete depuis longtemps, pas des clients qui ont perdu de la valeur. La fenetre d'action est encore ouverte.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Notre recommandation : cibler ces 4 704 clients avec une relance en deux temps. A J0, un email qui rappelle le produit ou la routine qu'ils appreciaient. A J+7, si pas de reaction, un avantage limite, proportionne a leur valeur passee. On arrete des conversion ou opposition, maximum deux contacts sur 14 jours. Notre hypothese : cet email personnalise peut reactiver une partie d'entre eux. Mais le RFM decrit le passe, pas l'avenir, d'ou le test A/B, groupe test contre groupe temoin, mesure sur le taux de reactivation a 30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Si on recupere 10% de ces clients a leur valeur mediane, ca represente environ 167 000e de CA. C'est un ordre de grandeur, pas une garantie, c'est justement ce que le test va verifier. La decision qu'on vous demande : le feu vert pour lancer ce test A/B sur les 4 704 clients a risque, avec groupe temoin, et mesurer a 30 jours avant tout deploiement plus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B3D"/>
        </a:solidFill>
      </p:bgPr>
    </p:bg>
    <p:spTree>
      <p:nvGrpSpPr>
        <p:cNvPr id="1" name=""/>
        <p:cNvGrpSpPr/>
        <p:nvPr/>
      </p:nvGrpSpPr>
      <p:grpSpPr>
        <a:xfrm>
          <a:off x="0" y="0"/>
          <a:ext cx="0" cy="0"/>
          <a:chOff x="0" y="0"/>
          <a:chExt cx="0" cy="0"/>
        </a:xfrm>
      </p:grpSpPr>
      <p:sp>
        <p:nvSpPr>
          <p:cNvPr id="2" name="Text 0"/>
          <p:cNvSpPr txBox="1"/>
          <p:nvPr/>
        </p:nvSpPr>
        <p:spPr>
          <a:xfrm>
            <a:off x="548640" y="502920"/>
            <a:ext cx="11094415" cy="365760"/>
          </a:xfrm>
          <a:prstGeom prst="rect">
            <a:avLst/>
          </a:prstGeom>
          <a:noFill/>
          <a:ln/>
        </p:spPr>
        <p:txBody>
          <a:bodyPr wrap="square" lIns="0" tIns="0" rIns="0" bIns="0" rtlCol="0" anchor="ctr"/>
          <a:lstStyle/>
          <a:p>
            <a:pPr indent="0" marL="0">
              <a:buNone/>
            </a:pPr>
            <a:r>
              <a:rPr lang="en-US" sz="1200" spc="200" kern="0" dirty="0">
                <a:solidFill>
                  <a:srgbClr val="E8B4BC"/>
                </a:solidFill>
                <a:latin typeface="Calibri" pitchFamily="34" charset="0"/>
                <a:ea typeface="Calibri" pitchFamily="34" charset="-122"/>
                <a:cs typeface="Calibri" pitchFamily="34" charset="-120"/>
              </a:rPr>
              <a:t>LUMINA &amp; CO  ·  SEGMENTATION RFM  ·  49 184 CLIENTS</a:t>
            </a:r>
            <a:endParaRPr lang="en-US" sz="1200" dirty="0"/>
          </a:p>
        </p:txBody>
      </p:sp>
      <p:sp>
        <p:nvSpPr>
          <p:cNvPr id="3" name="Text 1"/>
          <p:cNvSpPr txBox="1"/>
          <p:nvPr/>
        </p:nvSpPr>
        <p:spPr>
          <a:xfrm>
            <a:off x="548640" y="960120"/>
            <a:ext cx="11094415" cy="100584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Une valeur historique est en train de nous échapper</a:t>
            </a:r>
            <a:endParaRPr lang="en-US" sz="3400" dirty="0"/>
          </a:p>
        </p:txBody>
      </p:sp>
      <p:sp>
        <p:nvSpPr>
          <p:cNvPr id="4" name="Shape 2"/>
          <p:cNvSpPr/>
          <p:nvPr/>
        </p:nvSpPr>
        <p:spPr>
          <a:xfrm>
            <a:off x="838048" y="2331720"/>
            <a:ext cx="3291840" cy="1737360"/>
          </a:xfrm>
          <a:prstGeom prst="roundRect">
            <a:avLst>
              <a:gd name="adj" fmla="val 4211"/>
            </a:avLst>
          </a:prstGeom>
          <a:solidFill>
            <a:srgbClr val="5C3A5C"/>
          </a:solidFill>
          <a:ln/>
        </p:spPr>
      </p:sp>
      <p:sp>
        <p:nvSpPr>
          <p:cNvPr id="5" name="Text 3"/>
          <p:cNvSpPr txBox="1"/>
          <p:nvPr/>
        </p:nvSpPr>
        <p:spPr>
          <a:xfrm>
            <a:off x="838048" y="2487168"/>
            <a:ext cx="3291840" cy="685800"/>
          </a:xfrm>
          <a:prstGeom prst="rect">
            <a:avLst/>
          </a:prstGeom>
          <a:noFill/>
          <a:ln/>
        </p:spPr>
        <p:txBody>
          <a:bodyPr wrap="square" lIns="0" tIns="0" rIns="0" bIns="0" rtlCol="0" anchor="ctr"/>
          <a:lstStyle/>
          <a:p>
            <a:pPr algn="ctr" indent="0" marL="0">
              <a:buNone/>
            </a:pPr>
            <a:r>
              <a:rPr lang="en-US" sz="3400" b="1" dirty="0">
                <a:solidFill>
                  <a:srgbClr val="F2A6BB"/>
                </a:solidFill>
                <a:latin typeface="Cambria" pitchFamily="34" charset="0"/>
                <a:ea typeface="Cambria" pitchFamily="34" charset="-122"/>
                <a:cs typeface="Cambria" pitchFamily="34" charset="-120"/>
              </a:rPr>
              <a:t>4 704</a:t>
            </a:r>
            <a:endParaRPr lang="en-US" sz="3400" dirty="0"/>
          </a:p>
        </p:txBody>
      </p:sp>
      <p:sp>
        <p:nvSpPr>
          <p:cNvPr id="6" name="Text 4"/>
          <p:cNvSpPr txBox="1"/>
          <p:nvPr/>
        </p:nvSpPr>
        <p:spPr>
          <a:xfrm>
            <a:off x="975208" y="3154680"/>
            <a:ext cx="3017520" cy="822960"/>
          </a:xfrm>
          <a:prstGeom prst="rect">
            <a:avLst/>
          </a:prstGeom>
          <a:noFill/>
          <a:ln/>
        </p:spPr>
        <p:txBody>
          <a:bodyPr wrap="square" lIns="0" tIns="0" rIns="0" bIns="0" rtlCol="0" anchor="ctr"/>
          <a:lstStyle/>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clients « à risque »</a:t>
            </a:r>
            <a:endParaRPr lang="en-US" sz="1250" dirty="0"/>
          </a:p>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(9,6 % de la base)</a:t>
            </a:r>
            <a:endParaRPr lang="en-US" sz="1250" dirty="0"/>
          </a:p>
        </p:txBody>
      </p:sp>
      <p:sp>
        <p:nvSpPr>
          <p:cNvPr id="7" name="Shape 5"/>
          <p:cNvSpPr/>
          <p:nvPr/>
        </p:nvSpPr>
        <p:spPr>
          <a:xfrm>
            <a:off x="4449928" y="2331720"/>
            <a:ext cx="3291840" cy="1737360"/>
          </a:xfrm>
          <a:prstGeom prst="roundRect">
            <a:avLst>
              <a:gd name="adj" fmla="val 4211"/>
            </a:avLst>
          </a:prstGeom>
          <a:solidFill>
            <a:srgbClr val="5C3A5C"/>
          </a:solidFill>
          <a:ln/>
        </p:spPr>
      </p:sp>
      <p:sp>
        <p:nvSpPr>
          <p:cNvPr id="8" name="Text 6"/>
          <p:cNvSpPr txBox="1"/>
          <p:nvPr/>
        </p:nvSpPr>
        <p:spPr>
          <a:xfrm>
            <a:off x="4449928" y="2487168"/>
            <a:ext cx="3291840" cy="685800"/>
          </a:xfrm>
          <a:prstGeom prst="rect">
            <a:avLst/>
          </a:prstGeom>
          <a:noFill/>
          <a:ln/>
        </p:spPr>
        <p:txBody>
          <a:bodyPr wrap="square" lIns="0" tIns="0" rIns="0" bIns="0" rtlCol="0" anchor="ctr"/>
          <a:lstStyle/>
          <a:p>
            <a:pPr algn="ctr" indent="0" marL="0">
              <a:buNone/>
            </a:pPr>
            <a:r>
              <a:rPr lang="en-US" sz="3400" b="1" dirty="0">
                <a:solidFill>
                  <a:srgbClr val="F2A6BB"/>
                </a:solidFill>
                <a:latin typeface="Cambria" pitchFamily="34" charset="0"/>
                <a:ea typeface="Cambria" pitchFamily="34" charset="-122"/>
                <a:cs typeface="Cambria" pitchFamily="34" charset="-120"/>
              </a:rPr>
              <a:t>454 j</a:t>
            </a:r>
            <a:endParaRPr lang="en-US" sz="3400" dirty="0"/>
          </a:p>
        </p:txBody>
      </p:sp>
      <p:sp>
        <p:nvSpPr>
          <p:cNvPr id="9" name="Text 7"/>
          <p:cNvSpPr txBox="1"/>
          <p:nvPr/>
        </p:nvSpPr>
        <p:spPr>
          <a:xfrm>
            <a:off x="4587088" y="3154680"/>
            <a:ext cx="3017520" cy="822960"/>
          </a:xfrm>
          <a:prstGeom prst="rect">
            <a:avLst/>
          </a:prstGeom>
          <a:noFill/>
          <a:ln/>
        </p:spPr>
        <p:txBody>
          <a:bodyPr wrap="square" lIns="0" tIns="0" rIns="0" bIns="0" rtlCol="0" anchor="ctr"/>
          <a:lstStyle/>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sans achat en médiane</a:t>
            </a:r>
            <a:endParaRPr lang="en-US" sz="1250" dirty="0"/>
          </a:p>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(vs 181 j pour les Fidèles)</a:t>
            </a:r>
            <a:endParaRPr lang="en-US" sz="1250" dirty="0"/>
          </a:p>
        </p:txBody>
      </p:sp>
      <p:sp>
        <p:nvSpPr>
          <p:cNvPr id="10" name="Shape 8"/>
          <p:cNvSpPr/>
          <p:nvPr/>
        </p:nvSpPr>
        <p:spPr>
          <a:xfrm>
            <a:off x="8061808" y="2331720"/>
            <a:ext cx="3291840" cy="1737360"/>
          </a:xfrm>
          <a:prstGeom prst="roundRect">
            <a:avLst>
              <a:gd name="adj" fmla="val 4211"/>
            </a:avLst>
          </a:prstGeom>
          <a:solidFill>
            <a:srgbClr val="5C3A5C"/>
          </a:solidFill>
          <a:ln/>
        </p:spPr>
      </p:sp>
      <p:sp>
        <p:nvSpPr>
          <p:cNvPr id="11" name="Text 9"/>
          <p:cNvSpPr txBox="1"/>
          <p:nvPr/>
        </p:nvSpPr>
        <p:spPr>
          <a:xfrm>
            <a:off x="8061808" y="2487168"/>
            <a:ext cx="3291840" cy="685800"/>
          </a:xfrm>
          <a:prstGeom prst="rect">
            <a:avLst/>
          </a:prstGeom>
          <a:noFill/>
          <a:ln/>
        </p:spPr>
        <p:txBody>
          <a:bodyPr wrap="square" lIns="0" tIns="0" rIns="0" bIns="0" rtlCol="0" anchor="ctr"/>
          <a:lstStyle/>
          <a:p>
            <a:pPr algn="ctr" indent="0" marL="0">
              <a:buNone/>
            </a:pPr>
            <a:r>
              <a:rPr lang="en-US" sz="3400" b="1" dirty="0">
                <a:solidFill>
                  <a:srgbClr val="F2A6BB"/>
                </a:solidFill>
                <a:latin typeface="Cambria" pitchFamily="34" charset="0"/>
                <a:ea typeface="Cambria" pitchFamily="34" charset="-122"/>
                <a:cs typeface="Cambria" pitchFamily="34" charset="-120"/>
              </a:rPr>
              <a:t>3,2 M€</a:t>
            </a:r>
            <a:endParaRPr lang="en-US" sz="3400" dirty="0"/>
          </a:p>
        </p:txBody>
      </p:sp>
      <p:sp>
        <p:nvSpPr>
          <p:cNvPr id="12" name="Text 10"/>
          <p:cNvSpPr txBox="1"/>
          <p:nvPr/>
        </p:nvSpPr>
        <p:spPr>
          <a:xfrm>
            <a:off x="8198968" y="3154680"/>
            <a:ext cx="3017520" cy="822960"/>
          </a:xfrm>
          <a:prstGeom prst="rect">
            <a:avLst/>
          </a:prstGeom>
          <a:noFill/>
          <a:ln/>
        </p:spPr>
        <p:txBody>
          <a:bodyPr wrap="square" lIns="0" tIns="0" rIns="0" bIns="0" rtlCol="0" anchor="ctr"/>
          <a:lstStyle/>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de chiffre d'affaires net</a:t>
            </a:r>
            <a:endParaRPr lang="en-US" sz="1250" dirty="0"/>
          </a:p>
          <a:p>
            <a:pPr algn="ctr" indent="0" marL="0">
              <a:lnSpc>
                <a:spcPct val="115000"/>
              </a:lnSpc>
              <a:buNone/>
            </a:pPr>
            <a:r>
              <a:rPr lang="en-US" sz="1250" dirty="0">
                <a:solidFill>
                  <a:srgbClr val="E8B4BC"/>
                </a:solidFill>
                <a:latin typeface="Calibri" pitchFamily="34" charset="0"/>
                <a:ea typeface="Calibri" pitchFamily="34" charset="-122"/>
                <a:cs typeface="Calibri" pitchFamily="34" charset="-120"/>
              </a:rPr>
              <a:t>historiquement lié à ce segment</a:t>
            </a:r>
            <a:endParaRPr lang="en-US" sz="1250" dirty="0"/>
          </a:p>
        </p:txBody>
      </p:sp>
      <p:sp>
        <p:nvSpPr>
          <p:cNvPr id="13" name="Shape 11"/>
          <p:cNvSpPr/>
          <p:nvPr/>
        </p:nvSpPr>
        <p:spPr>
          <a:xfrm>
            <a:off x="548640" y="4617720"/>
            <a:ext cx="11094415" cy="0"/>
          </a:xfrm>
          <a:prstGeom prst="line">
            <a:avLst/>
          </a:prstGeom>
          <a:noFill/>
          <a:ln w="12700">
            <a:solidFill>
              <a:srgbClr val="5C3A5C"/>
            </a:solidFill>
            <a:prstDash val="solid"/>
          </a:ln>
        </p:spPr>
      </p:sp>
      <p:sp>
        <p:nvSpPr>
          <p:cNvPr id="14" name="Text 12"/>
          <p:cNvSpPr txBox="1"/>
          <p:nvPr/>
        </p:nvSpPr>
        <p:spPr>
          <a:xfrm>
            <a:off x="548640" y="4892040"/>
            <a:ext cx="11094415" cy="1280160"/>
          </a:xfrm>
          <a:prstGeom prst="rect">
            <a:avLst/>
          </a:prstGeom>
          <a:noFill/>
          <a:ln/>
        </p:spPr>
        <p:txBody>
          <a:bodyPr wrap="square" lIns="0" tIns="0" rIns="0" bIns="0" rtlCol="0" anchor="ctr"/>
          <a:lstStyle/>
          <a:p>
            <a:pPr indent="0" marL="0">
              <a:lnSpc>
                <a:spcPct val="115000"/>
              </a:lnSpc>
              <a:buNone/>
            </a:pPr>
            <a:r>
              <a:rPr lang="en-US" sz="2200" b="1" dirty="0">
                <a:solidFill>
                  <a:srgbClr val="FFFFFF"/>
                </a:solidFill>
                <a:latin typeface="Cambria" pitchFamily="34" charset="0"/>
                <a:ea typeface="Cambria" pitchFamily="34" charset="-122"/>
                <a:cs typeface="Cambria" pitchFamily="34" charset="-120"/>
              </a:rPr>
              <a:t>Peut-on faire revenir ces clients avant qu'ils ne basculent vers les « Perdus » </a:t>
            </a:r>
            <a:pPr indent="0" marL="0">
              <a:lnSpc>
                <a:spcPct val="115000"/>
              </a:lnSpc>
              <a:buNone/>
            </a:pPr>
            <a:r>
              <a:rPr lang="en-US" sz="2200" b="1" dirty="0">
                <a:solidFill>
                  <a:srgbClr val="E8B4BC"/>
                </a:solidFill>
                <a:latin typeface="Cambria" pitchFamily="34" charset="0"/>
                <a:ea typeface="Cambria" pitchFamily="34" charset="-122"/>
                <a:cs typeface="Cambria" pitchFamily="34" charset="-120"/>
              </a:rPr>
              <a:t>(21,8 % de la base pour seulement 2 % du CA net) ?</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40080"/>
          </a:xfrm>
          <a:prstGeom prst="rect">
            <a:avLst/>
          </a:prstGeom>
          <a:noFill/>
          <a:ln/>
        </p:spPr>
        <p:txBody>
          <a:bodyPr wrap="square" lIns="0" tIns="0" rIns="0" bIns="0" rtlCol="0" anchor="ctr"/>
          <a:lstStyle/>
          <a:p>
            <a:pPr indent="0" marL="0">
              <a:buNone/>
            </a:pPr>
            <a:r>
              <a:rPr lang="en-US" sz="3000" b="1" dirty="0">
                <a:solidFill>
                  <a:srgbClr val="3D1B3D"/>
                </a:solidFill>
                <a:latin typeface="Cambria" pitchFamily="34" charset="0"/>
                <a:ea typeface="Cambria" pitchFamily="34" charset="-122"/>
                <a:cs typeface="Cambria" pitchFamily="34" charset="-120"/>
              </a:rPr>
              <a:t>Ce que révèlent les données</a:t>
            </a:r>
            <a:endParaRPr lang="en-US" sz="3000" dirty="0"/>
          </a:p>
        </p:txBody>
      </p:sp>
      <p:sp>
        <p:nvSpPr>
          <p:cNvPr id="3" name="Text 1"/>
          <p:cNvSpPr txBox="1"/>
          <p:nvPr/>
        </p:nvSpPr>
        <p:spPr>
          <a:xfrm>
            <a:off x="548640" y="1051560"/>
            <a:ext cx="11094415" cy="365760"/>
          </a:xfrm>
          <a:prstGeom prst="rect">
            <a:avLst/>
          </a:prstGeom>
          <a:noFill/>
          <a:ln/>
        </p:spPr>
        <p:txBody>
          <a:bodyPr wrap="square" lIns="0" tIns="0" rIns="0" bIns="0" rtlCol="0" anchor="ctr"/>
          <a:lstStyle/>
          <a:p>
            <a:pPr indent="0" marL="0">
              <a:buNone/>
            </a:pPr>
            <a:r>
              <a:rPr lang="en-US" sz="1300" dirty="0">
                <a:solidFill>
                  <a:srgbClr val="8A6E82"/>
                </a:solidFill>
                <a:latin typeface="Calibri" pitchFamily="34" charset="0"/>
                <a:ea typeface="Calibri" pitchFamily="34" charset="-122"/>
                <a:cs typeface="Calibri" pitchFamily="34" charset="-120"/>
              </a:rPr>
              <a:t>3 constats tirés de la segmentation RFM (transactions au 30/06/2026)</a:t>
            </a:r>
            <a:endParaRPr lang="en-US" sz="1300" dirty="0"/>
          </a:p>
        </p:txBody>
      </p:sp>
      <p:sp>
        <p:nvSpPr>
          <p:cNvPr id="4" name="Shape 2"/>
          <p:cNvSpPr/>
          <p:nvPr/>
        </p:nvSpPr>
        <p:spPr>
          <a:xfrm>
            <a:off x="548640" y="1828800"/>
            <a:ext cx="685800" cy="685800"/>
          </a:xfrm>
          <a:prstGeom prst="ellipse">
            <a:avLst/>
          </a:prstGeom>
          <a:solidFill>
            <a:srgbClr val="F7E8EA"/>
          </a:solidFill>
          <a:ln w="19050">
            <a:solidFill>
              <a:srgbClr val="C9184A"/>
            </a:solidFill>
            <a:prstDash val="solid"/>
          </a:ln>
        </p:spPr>
      </p:sp>
      <p:sp>
        <p:nvSpPr>
          <p:cNvPr id="5" name="Text 3"/>
          <p:cNvSpPr txBox="1"/>
          <p:nvPr/>
        </p:nvSpPr>
        <p:spPr>
          <a:xfrm>
            <a:off x="548640" y="1828800"/>
            <a:ext cx="685800" cy="685800"/>
          </a:xfrm>
          <a:prstGeom prst="rect">
            <a:avLst/>
          </a:prstGeom>
          <a:noFill/>
          <a:ln/>
        </p:spPr>
        <p:txBody>
          <a:bodyPr wrap="square" lIns="0" tIns="0" rIns="0" bIns="0" rtlCol="0" anchor="ctr"/>
          <a:lstStyle/>
          <a:p>
            <a:pPr algn="ctr" indent="0" marL="0">
              <a:buNone/>
            </a:pPr>
            <a:r>
              <a:rPr lang="en-US" sz="2200" b="1" dirty="0">
                <a:solidFill>
                  <a:srgbClr val="C9184A"/>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508760" y="1691640"/>
            <a:ext cx="10134295" cy="457200"/>
          </a:xfrm>
          <a:prstGeom prst="rect">
            <a:avLst/>
          </a:prstGeom>
          <a:noFill/>
          <a:ln/>
        </p:spPr>
        <p:txBody>
          <a:bodyPr wrap="square" lIns="0" tIns="0" rIns="0" bIns="0" rtlCol="0" anchor="ctr"/>
          <a:lstStyle/>
          <a:p>
            <a:pPr indent="0" marL="0">
              <a:buNone/>
            </a:pPr>
            <a:r>
              <a:rPr lang="en-US" sz="1700" b="1" dirty="0">
                <a:solidFill>
                  <a:srgbClr val="3D1B3D"/>
                </a:solidFill>
                <a:latin typeface="Cambria" pitchFamily="34" charset="0"/>
                <a:ea typeface="Cambria" pitchFamily="34" charset="-122"/>
                <a:cs typeface="Cambria" pitchFamily="34" charset="-120"/>
              </a:rPr>
              <a:t>Des décrocheurs de valeur, pas des clients sans valeur</a:t>
            </a:r>
            <a:endParaRPr lang="en-US" sz="1700" dirty="0"/>
          </a:p>
        </p:txBody>
      </p:sp>
      <p:sp>
        <p:nvSpPr>
          <p:cNvPr id="7" name="Text 5"/>
          <p:cNvSpPr txBox="1"/>
          <p:nvPr/>
        </p:nvSpPr>
        <p:spPr>
          <a:xfrm>
            <a:off x="1508760" y="2167128"/>
            <a:ext cx="10134295" cy="868680"/>
          </a:xfrm>
          <a:prstGeom prst="rect">
            <a:avLst/>
          </a:prstGeom>
          <a:noFill/>
          <a:ln/>
        </p:spPr>
        <p:txBody>
          <a:bodyPr wrap="square" lIns="0" tIns="0" rIns="0" bIns="0" rtlCol="0" anchor="ctr"/>
          <a:lstStyle/>
          <a:p>
            <a:pPr indent="0" marL="0">
              <a:lnSpc>
                <a:spcPct val="120000"/>
              </a:lnSpc>
              <a:buNone/>
            </a:pPr>
            <a:r>
              <a:rPr lang="en-US" sz="1300" dirty="0">
                <a:solidFill>
                  <a:srgbClr val="3D1B3D"/>
                </a:solidFill>
                <a:latin typeface="Calibri" pitchFamily="34" charset="0"/>
                <a:ea typeface="Calibri" pitchFamily="34" charset="-122"/>
                <a:cs typeface="Calibri" pitchFamily="34" charset="-120"/>
              </a:rPr>
              <a:t>Leur comportement d'achat passé ressemble à celui de nos clients Fidèles. Ce qui a changé, ce n'est pas leur intérêt pour la marque : c'est uniquement leur activité récente.</a:t>
            </a:r>
            <a:endParaRPr lang="en-US" sz="1300" dirty="0"/>
          </a:p>
        </p:txBody>
      </p:sp>
      <p:sp>
        <p:nvSpPr>
          <p:cNvPr id="8" name="Shape 6"/>
          <p:cNvSpPr/>
          <p:nvPr/>
        </p:nvSpPr>
        <p:spPr>
          <a:xfrm>
            <a:off x="1508760" y="3268980"/>
            <a:ext cx="10134295" cy="0"/>
          </a:xfrm>
          <a:prstGeom prst="line">
            <a:avLst/>
          </a:prstGeom>
          <a:noFill/>
          <a:ln w="12700">
            <a:solidFill>
              <a:srgbClr val="EFDDE1"/>
            </a:solidFill>
            <a:prstDash val="solid"/>
          </a:ln>
        </p:spPr>
      </p:sp>
      <p:sp>
        <p:nvSpPr>
          <p:cNvPr id="9" name="Shape 7"/>
          <p:cNvSpPr/>
          <p:nvPr/>
        </p:nvSpPr>
        <p:spPr>
          <a:xfrm>
            <a:off x="548640" y="3474720"/>
            <a:ext cx="685800" cy="685800"/>
          </a:xfrm>
          <a:prstGeom prst="ellipse">
            <a:avLst/>
          </a:prstGeom>
          <a:solidFill>
            <a:srgbClr val="F7E8EA"/>
          </a:solidFill>
          <a:ln w="19050">
            <a:solidFill>
              <a:srgbClr val="C9184A"/>
            </a:solidFill>
            <a:prstDash val="solid"/>
          </a:ln>
        </p:spPr>
      </p:sp>
      <p:sp>
        <p:nvSpPr>
          <p:cNvPr id="10" name="Text 8"/>
          <p:cNvSpPr txBox="1"/>
          <p:nvPr/>
        </p:nvSpPr>
        <p:spPr>
          <a:xfrm>
            <a:off x="548640" y="3474720"/>
            <a:ext cx="685800" cy="685800"/>
          </a:xfrm>
          <a:prstGeom prst="rect">
            <a:avLst/>
          </a:prstGeom>
          <a:noFill/>
          <a:ln/>
        </p:spPr>
        <p:txBody>
          <a:bodyPr wrap="square" lIns="0" tIns="0" rIns="0" bIns="0" rtlCol="0" anchor="ctr"/>
          <a:lstStyle/>
          <a:p>
            <a:pPr algn="ctr" indent="0" marL="0">
              <a:buNone/>
            </a:pPr>
            <a:r>
              <a:rPr lang="en-US" sz="2200" b="1" dirty="0">
                <a:solidFill>
                  <a:srgbClr val="C9184A"/>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1508760" y="3337560"/>
            <a:ext cx="10134295" cy="457200"/>
          </a:xfrm>
          <a:prstGeom prst="rect">
            <a:avLst/>
          </a:prstGeom>
          <a:noFill/>
          <a:ln/>
        </p:spPr>
        <p:txBody>
          <a:bodyPr wrap="square" lIns="0" tIns="0" rIns="0" bIns="0" rtlCol="0" anchor="ctr"/>
          <a:lstStyle/>
          <a:p>
            <a:pPr indent="0" marL="0">
              <a:buNone/>
            </a:pPr>
            <a:r>
              <a:rPr lang="en-US" sz="1700" b="1" dirty="0">
                <a:solidFill>
                  <a:srgbClr val="3D1B3D"/>
                </a:solidFill>
                <a:latin typeface="Cambria" pitchFamily="34" charset="0"/>
                <a:ea typeface="Cambria" pitchFamily="34" charset="-122"/>
                <a:cs typeface="Cambria" pitchFamily="34" charset="-120"/>
              </a:rPr>
              <a:t>La bascule vers « Perdus » est déjà tracée</a:t>
            </a:r>
            <a:endParaRPr lang="en-US" sz="1700" dirty="0"/>
          </a:p>
        </p:txBody>
      </p:sp>
      <p:sp>
        <p:nvSpPr>
          <p:cNvPr id="12" name="Text 10"/>
          <p:cNvSpPr txBox="1"/>
          <p:nvPr/>
        </p:nvSpPr>
        <p:spPr>
          <a:xfrm>
            <a:off x="1508760" y="3813048"/>
            <a:ext cx="10134295" cy="868680"/>
          </a:xfrm>
          <a:prstGeom prst="rect">
            <a:avLst/>
          </a:prstGeom>
          <a:noFill/>
          <a:ln/>
        </p:spPr>
        <p:txBody>
          <a:bodyPr wrap="square" lIns="0" tIns="0" rIns="0" bIns="0" rtlCol="0" anchor="ctr"/>
          <a:lstStyle/>
          <a:p>
            <a:pPr indent="0" marL="0">
              <a:lnSpc>
                <a:spcPct val="120000"/>
              </a:lnSpc>
              <a:buNone/>
            </a:pPr>
            <a:r>
              <a:rPr lang="en-US" sz="1300" dirty="0">
                <a:solidFill>
                  <a:srgbClr val="3D1B3D"/>
                </a:solidFill>
                <a:latin typeface="Calibri" pitchFamily="34" charset="0"/>
                <a:ea typeface="Calibri" pitchFamily="34" charset="-122"/>
                <a:cs typeface="Calibri" pitchFamily="34" charset="-120"/>
              </a:rPr>
              <a:t>Le segment Perdus montre ce qui arrive à une base qu'on laisse filer : une part croissante de clients pour une part de plus en plus faible du CA. Les clients à risque suivent la même pente — avec une valeur individuelle bien plus élevée à sauver.</a:t>
            </a:r>
            <a:endParaRPr lang="en-US" sz="1300" dirty="0"/>
          </a:p>
        </p:txBody>
      </p:sp>
      <p:sp>
        <p:nvSpPr>
          <p:cNvPr id="13" name="Shape 11"/>
          <p:cNvSpPr/>
          <p:nvPr/>
        </p:nvSpPr>
        <p:spPr>
          <a:xfrm>
            <a:off x="1508760" y="4914900"/>
            <a:ext cx="10134295" cy="0"/>
          </a:xfrm>
          <a:prstGeom prst="line">
            <a:avLst/>
          </a:prstGeom>
          <a:noFill/>
          <a:ln w="12700">
            <a:solidFill>
              <a:srgbClr val="EFDDE1"/>
            </a:solidFill>
            <a:prstDash val="solid"/>
          </a:ln>
        </p:spPr>
      </p:sp>
      <p:sp>
        <p:nvSpPr>
          <p:cNvPr id="14" name="Shape 12"/>
          <p:cNvSpPr/>
          <p:nvPr/>
        </p:nvSpPr>
        <p:spPr>
          <a:xfrm>
            <a:off x="548640" y="5120640"/>
            <a:ext cx="685800" cy="685800"/>
          </a:xfrm>
          <a:prstGeom prst="ellipse">
            <a:avLst/>
          </a:prstGeom>
          <a:solidFill>
            <a:srgbClr val="F7E8EA"/>
          </a:solidFill>
          <a:ln w="19050">
            <a:solidFill>
              <a:srgbClr val="C9184A"/>
            </a:solidFill>
            <a:prstDash val="solid"/>
          </a:ln>
        </p:spPr>
      </p:sp>
      <p:sp>
        <p:nvSpPr>
          <p:cNvPr id="15" name="Text 13"/>
          <p:cNvSpPr txBox="1"/>
          <p:nvPr/>
        </p:nvSpPr>
        <p:spPr>
          <a:xfrm>
            <a:off x="548640" y="5120640"/>
            <a:ext cx="685800" cy="685800"/>
          </a:xfrm>
          <a:prstGeom prst="rect">
            <a:avLst/>
          </a:prstGeom>
          <a:noFill/>
          <a:ln/>
        </p:spPr>
        <p:txBody>
          <a:bodyPr wrap="square" lIns="0" tIns="0" rIns="0" bIns="0" rtlCol="0" anchor="ctr"/>
          <a:lstStyle/>
          <a:p>
            <a:pPr algn="ctr" indent="0" marL="0">
              <a:buNone/>
            </a:pPr>
            <a:r>
              <a:rPr lang="en-US" sz="2200" b="1" dirty="0">
                <a:solidFill>
                  <a:srgbClr val="C9184A"/>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1508760" y="4983480"/>
            <a:ext cx="10134295" cy="457200"/>
          </a:xfrm>
          <a:prstGeom prst="rect">
            <a:avLst/>
          </a:prstGeom>
          <a:noFill/>
          <a:ln/>
        </p:spPr>
        <p:txBody>
          <a:bodyPr wrap="square" lIns="0" tIns="0" rIns="0" bIns="0" rtlCol="0" anchor="ctr"/>
          <a:lstStyle/>
          <a:p>
            <a:pPr indent="0" marL="0">
              <a:buNone/>
            </a:pPr>
            <a:r>
              <a:rPr lang="en-US" sz="1700" b="1" dirty="0">
                <a:solidFill>
                  <a:srgbClr val="3D1B3D"/>
                </a:solidFill>
                <a:latin typeface="Cambria" pitchFamily="34" charset="0"/>
                <a:ea typeface="Cambria" pitchFamily="34" charset="-122"/>
                <a:cs typeface="Cambria" pitchFamily="34" charset="-120"/>
              </a:rPr>
              <a:t>Un seul levier de personnalisation fiable : l'historique d'achat</a:t>
            </a:r>
            <a:endParaRPr lang="en-US" sz="1700" dirty="0"/>
          </a:p>
        </p:txBody>
      </p:sp>
      <p:sp>
        <p:nvSpPr>
          <p:cNvPr id="17" name="Text 15"/>
          <p:cNvSpPr txBox="1"/>
          <p:nvPr/>
        </p:nvSpPr>
        <p:spPr>
          <a:xfrm>
            <a:off x="1508760" y="5458968"/>
            <a:ext cx="10134295" cy="868680"/>
          </a:xfrm>
          <a:prstGeom prst="rect">
            <a:avLst/>
          </a:prstGeom>
          <a:noFill/>
          <a:ln/>
        </p:spPr>
        <p:txBody>
          <a:bodyPr wrap="square" lIns="0" tIns="0" rIns="0" bIns="0" rtlCol="0" anchor="ctr"/>
          <a:lstStyle/>
          <a:p>
            <a:pPr indent="0" marL="0">
              <a:lnSpc>
                <a:spcPct val="120000"/>
              </a:lnSpc>
              <a:buNone/>
            </a:pPr>
            <a:r>
              <a:rPr lang="en-US" sz="1300" dirty="0">
                <a:solidFill>
                  <a:srgbClr val="3D1B3D"/>
                </a:solidFill>
                <a:latin typeface="Calibri" pitchFamily="34" charset="0"/>
                <a:ea typeface="Calibri" pitchFamily="34" charset="-122"/>
                <a:cs typeface="Calibri" pitchFamily="34" charset="-120"/>
              </a:rPr>
              <a:t>Seuls 38,3 % du segment ont une préférence déclarée renseignée. En revanche, 100 % ont un historique d'achat exploitable pour personnaliser le message de relance.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40080"/>
          </a:xfrm>
          <a:prstGeom prst="rect">
            <a:avLst/>
          </a:prstGeom>
          <a:noFill/>
          <a:ln/>
        </p:spPr>
        <p:txBody>
          <a:bodyPr wrap="square" lIns="0" tIns="0" rIns="0" bIns="0" rtlCol="0" anchor="ctr"/>
          <a:lstStyle/>
          <a:p>
            <a:pPr indent="0" marL="0">
              <a:buNone/>
            </a:pPr>
            <a:r>
              <a:rPr lang="en-US" sz="3000" b="1" dirty="0">
                <a:solidFill>
                  <a:srgbClr val="3D1B3D"/>
                </a:solidFill>
                <a:latin typeface="Cambria" pitchFamily="34" charset="0"/>
                <a:ea typeface="Cambria" pitchFamily="34" charset="-122"/>
                <a:cs typeface="Cambria" pitchFamily="34" charset="-120"/>
              </a:rPr>
              <a:t>La preuve dans les chiffres</a:t>
            </a:r>
            <a:endParaRPr lang="en-US" sz="3000" dirty="0"/>
          </a:p>
        </p:txBody>
      </p:sp>
      <p:sp>
        <p:nvSpPr>
          <p:cNvPr id="3" name="Text 1"/>
          <p:cNvSpPr txBox="1"/>
          <p:nvPr/>
        </p:nvSpPr>
        <p:spPr>
          <a:xfrm>
            <a:off x="548640" y="1234440"/>
            <a:ext cx="5486400" cy="320040"/>
          </a:xfrm>
          <a:prstGeom prst="rect">
            <a:avLst/>
          </a:prstGeom>
          <a:noFill/>
          <a:ln/>
        </p:spPr>
        <p:txBody>
          <a:bodyPr wrap="square" lIns="0" tIns="0" rIns="0" bIns="0" rtlCol="0" anchor="ctr"/>
          <a:lstStyle/>
          <a:p>
            <a:pPr indent="0" marL="0">
              <a:buNone/>
            </a:pPr>
            <a:r>
              <a:rPr lang="en-US" sz="1300" b="1" dirty="0">
                <a:solidFill>
                  <a:srgbClr val="3D1B3D"/>
                </a:solidFill>
                <a:latin typeface="Calibri" pitchFamily="34" charset="0"/>
                <a:ea typeface="Calibri" pitchFamily="34" charset="-122"/>
                <a:cs typeface="Calibri" pitchFamily="34" charset="-120"/>
              </a:rPr>
              <a:t>Part de la base vs part du CA net</a:t>
            </a:r>
            <a:endParaRPr lang="en-US" sz="1300" dirty="0"/>
          </a:p>
        </p:txBody>
      </p:sp>
      <p:graphicFrame>
        <p:nvGraphicFramePr>
          <p:cNvPr id="4" name="Chart 0" descr=""/>
          <p:cNvGraphicFramePr/>
          <p:nvPr/>
        </p:nvGraphicFramePr>
        <p:xfrm>
          <a:off x="548640" y="1600200"/>
          <a:ext cx="54864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492240" y="1234440"/>
            <a:ext cx="5150815" cy="320040"/>
          </a:xfrm>
          <a:prstGeom prst="rect">
            <a:avLst/>
          </a:prstGeom>
          <a:noFill/>
          <a:ln/>
        </p:spPr>
        <p:txBody>
          <a:bodyPr wrap="square" lIns="0" tIns="0" rIns="0" bIns="0" rtlCol="0" anchor="ctr"/>
          <a:lstStyle/>
          <a:p>
            <a:pPr indent="0" marL="0">
              <a:buNone/>
            </a:pPr>
            <a:r>
              <a:rPr lang="en-US" sz="1300" b="1" dirty="0">
                <a:solidFill>
                  <a:srgbClr val="3D1B3D"/>
                </a:solidFill>
                <a:latin typeface="Calibri" pitchFamily="34" charset="0"/>
                <a:ea typeface="Calibri" pitchFamily="34" charset="-122"/>
                <a:cs typeface="Calibri" pitchFamily="34" charset="-120"/>
              </a:rPr>
              <a:t>Où se situe « À risque » entre Fidèles et Perdus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92240" y="1600200"/>
          <a:ext cx="5150815" cy="1920240"/>
        </p:xfrm>
        <a:graphic>
          <a:graphicData uri="http://schemas.openxmlformats.org/drawingml/2006/table">
            <a:tbl>
              <a:tblPr/>
              <a:tblGrid>
                <a:gridCol w="1287704"/>
                <a:gridCol w="1287704"/>
                <a:gridCol w="1287704"/>
                <a:gridCol w="1287704"/>
              </a:tblGrid>
              <a:tr h="480060">
                <a:tc>
                  <a:txBody>
                    <a:bodyPr/>
                    <a:lstStyle/>
                    <a:p>
                      <a:pPr algn="l" indent="0" marL="0">
                        <a:buNone/>
                      </a:pPr>
                      <a:r>
                        <a:rPr lang="en-US" sz="1150" b="1" dirty="0">
                          <a:solidFill>
                            <a:srgbClr val="FFFFFF"/>
                          </a:solidFill>
                        </a:rPr>
                        <a:t>Indicateur (médiane)</a:t>
                      </a:r>
                      <a:endParaRPr lang="en-US" sz="115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solidFill>
                      <a:srgbClr val="3D1B3D"/>
                    </a:solidFill>
                  </a:tcPr>
                </a:tc>
                <a:tc>
                  <a:txBody>
                    <a:bodyPr/>
                    <a:lstStyle/>
                    <a:p>
                      <a:pPr algn="ctr" indent="0" marL="0">
                        <a:buNone/>
                      </a:pPr>
                      <a:r>
                        <a:rPr lang="en-US" sz="1150" b="1" dirty="0">
                          <a:solidFill>
                            <a:srgbClr val="FFFFFF"/>
                          </a:solidFill>
                        </a:rPr>
                        <a:t>Fidèles</a:t>
                      </a:r>
                      <a:endParaRPr lang="en-US" sz="115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solidFill>
                      <a:srgbClr val="3D1B3D"/>
                    </a:solidFill>
                  </a:tcPr>
                </a:tc>
                <a:tc>
                  <a:txBody>
                    <a:bodyPr/>
                    <a:lstStyle/>
                    <a:p>
                      <a:pPr algn="ctr" indent="0" marL="0">
                        <a:buNone/>
                      </a:pPr>
                      <a:r>
                        <a:rPr lang="en-US" sz="1150" b="1" dirty="0">
                          <a:solidFill>
                            <a:srgbClr val="FFFFFF"/>
                          </a:solidFill>
                        </a:rPr>
                        <a:t>À risque</a:t>
                      </a:r>
                      <a:endParaRPr lang="en-US" sz="115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solidFill>
                      <a:srgbClr val="3D1B3D"/>
                    </a:solidFill>
                  </a:tcPr>
                </a:tc>
                <a:tc>
                  <a:txBody>
                    <a:bodyPr/>
                    <a:lstStyle/>
                    <a:p>
                      <a:pPr algn="ctr" indent="0" marL="0">
                        <a:buNone/>
                      </a:pPr>
                      <a:r>
                        <a:rPr lang="en-US" sz="1150" b="1" dirty="0">
                          <a:solidFill>
                            <a:srgbClr val="FFFFFF"/>
                          </a:solidFill>
                        </a:rPr>
                        <a:t>Perdus</a:t>
                      </a:r>
                      <a:endParaRPr lang="en-US" sz="115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solidFill>
                      <a:srgbClr val="3D1B3D"/>
                    </a:solidFill>
                  </a:tcPr>
                </a:tc>
              </a:tr>
              <a:tr h="480060">
                <a:tc>
                  <a:txBody>
                    <a:bodyPr/>
                    <a:lstStyle/>
                    <a:p>
                      <a:pPr algn="l" indent="0" marL="0">
                        <a:buNone/>
                      </a:pPr>
                      <a:r>
                        <a:rPr lang="en-US" sz="1200" b="1" dirty="0">
                          <a:solidFill>
                            <a:srgbClr val="3D1B3D"/>
                          </a:solidFill>
                        </a:rPr>
                        <a:t>Récence (jours)</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181</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b="1" dirty="0">
                          <a:solidFill>
                            <a:srgbClr val="C9184A"/>
                          </a:solidFill>
                        </a:rPr>
                        <a:t>454</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647</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r>
              <a:tr h="480060">
                <a:tc>
                  <a:txBody>
                    <a:bodyPr/>
                    <a:lstStyle/>
                    <a:p>
                      <a:pPr algn="l" indent="0" marL="0">
                        <a:buNone/>
                      </a:pPr>
                      <a:r>
                        <a:rPr lang="en-US" sz="1200" b="1" dirty="0">
                          <a:solidFill>
                            <a:srgbClr val="3D1B3D"/>
                          </a:solidFill>
                        </a:rPr>
                        <a:t>Fréquence (achats)</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7</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b="1" dirty="0">
                          <a:solidFill>
                            <a:srgbClr val="C9184A"/>
                          </a:solidFill>
                        </a:rPr>
                        <a:t>4</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1</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r>
              <a:tr h="480060">
                <a:tc>
                  <a:txBody>
                    <a:bodyPr/>
                    <a:lstStyle/>
                    <a:p>
                      <a:pPr algn="l" indent="0" marL="0">
                        <a:buNone/>
                      </a:pPr>
                      <a:r>
                        <a:rPr lang="en-US" sz="1200" b="1" dirty="0">
                          <a:solidFill>
                            <a:srgbClr val="3D1B3D"/>
                          </a:solidFill>
                        </a:rPr>
                        <a:t>Montant (€)</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498 €</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b="1" dirty="0">
                          <a:solidFill>
                            <a:srgbClr val="C9184A"/>
                          </a:solidFill>
                        </a:rPr>
                        <a:t>355 €</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c>
                  <a:txBody>
                    <a:bodyPr/>
                    <a:lstStyle/>
                    <a:p>
                      <a:pPr algn="ctr" indent="0" marL="0">
                        <a:buNone/>
                      </a:pPr>
                      <a:r>
                        <a:rPr lang="en-US" sz="1200" dirty="0">
                          <a:solidFill>
                            <a:srgbClr val="3D1B3D"/>
                          </a:solidFill>
                        </a:rPr>
                        <a:t>69 €</a:t>
                      </a:r>
                      <a:endParaRPr lang="en-US" sz="1200" dirty="0"/>
                    </a:p>
                  </a:txBody>
                  <a:tcPr marL="91440" marR="91440" marT="45720" marB="45720" anchor="ctr">
                    <a:lnL w="12700" cap="flat" cmpd="sng" algn="ctr">
                      <a:solidFill>
                        <a:srgbClr val="EFDDE1"/>
                      </a:solidFill>
                      <a:prstDash val="solid"/>
                      <a:round/>
                      <a:headEnd type="none" w="med" len="med"/>
                      <a:tailEnd type="none" w="med" len="med"/>
                    </a:lnL>
                    <a:lnR w="12700" cap="flat" cmpd="sng" algn="ctr">
                      <a:solidFill>
                        <a:srgbClr val="EFDDE1"/>
                      </a:solidFill>
                      <a:prstDash val="solid"/>
                      <a:round/>
                      <a:headEnd type="none" w="med" len="med"/>
                      <a:tailEnd type="none" w="med" len="med"/>
                    </a:lnR>
                    <a:lnT w="12700" cap="flat" cmpd="sng" algn="ctr">
                      <a:solidFill>
                        <a:srgbClr val="EFDDE1"/>
                      </a:solidFill>
                      <a:prstDash val="solid"/>
                      <a:round/>
                      <a:headEnd type="none" w="med" len="med"/>
                      <a:tailEnd type="none" w="med" len="med"/>
                    </a:lnT>
                    <a:lnB w="12700" cap="flat" cmpd="sng" algn="ctr">
                      <a:solidFill>
                        <a:srgbClr val="EFDDE1"/>
                      </a:solidFill>
                      <a:prstDash val="solid"/>
                      <a:round/>
                      <a:headEnd type="none" w="med" len="med"/>
                      <a:tailEnd type="none" w="med" len="med"/>
                    </a:lnB>
                  </a:tcPr>
                </a:tc>
              </a:tr>
            </a:tbl>
          </a:graphicData>
        </a:graphic>
      </p:graphicFrame>
      <p:sp>
        <p:nvSpPr>
          <p:cNvPr id="7" name="Shape 3"/>
          <p:cNvSpPr/>
          <p:nvPr/>
        </p:nvSpPr>
        <p:spPr>
          <a:xfrm>
            <a:off x="6492240" y="3749040"/>
            <a:ext cx="5150815" cy="1051560"/>
          </a:xfrm>
          <a:prstGeom prst="roundRect">
            <a:avLst>
              <a:gd name="adj" fmla="val 5217"/>
            </a:avLst>
          </a:prstGeom>
          <a:solidFill>
            <a:srgbClr val="F7E8EA"/>
          </a:solidFill>
          <a:ln/>
        </p:spPr>
      </p:sp>
      <p:sp>
        <p:nvSpPr>
          <p:cNvPr id="8" name="Text 4"/>
          <p:cNvSpPr txBox="1"/>
          <p:nvPr/>
        </p:nvSpPr>
        <p:spPr>
          <a:xfrm>
            <a:off x="6675120" y="3840480"/>
            <a:ext cx="4785055" cy="868680"/>
          </a:xfrm>
          <a:prstGeom prst="rect">
            <a:avLst/>
          </a:prstGeom>
          <a:noFill/>
          <a:ln/>
        </p:spPr>
        <p:txBody>
          <a:bodyPr wrap="square" lIns="0" tIns="0" rIns="0" bIns="0" rtlCol="0" anchor="ctr"/>
          <a:lstStyle/>
          <a:p>
            <a:pPr indent="0" marL="0">
              <a:lnSpc>
                <a:spcPct val="115000"/>
              </a:lnSpc>
              <a:buNone/>
            </a:pPr>
            <a:r>
              <a:rPr lang="en-US" sz="1150" i="1" dirty="0">
                <a:solidFill>
                  <a:srgbClr val="3D1B3D"/>
                </a:solidFill>
                <a:latin typeface="Calibri" pitchFamily="34" charset="0"/>
                <a:ea typeface="Calibri" pitchFamily="34" charset="-122"/>
                <a:cs typeface="Calibri" pitchFamily="34" charset="-120"/>
              </a:rPr>
              <a:t>À risque combine fréquence et montant proches des Fidèles, mais une récence proche des Perdus : la fenêtre d'action est encore ouverte.</a:t>
            </a:r>
            <a:endParaRPr lang="en-US" sz="1150" dirty="0"/>
          </a:p>
        </p:txBody>
      </p:sp>
      <p:sp>
        <p:nvSpPr>
          <p:cNvPr id="9" name="Text 5"/>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950" dirty="0">
                <a:solidFill>
                  <a:srgbClr val="8A6E82"/>
                </a:solidFill>
                <a:latin typeface="Calibri" pitchFamily="34" charset="0"/>
                <a:ea typeface="Calibri" pitchFamily="34" charset="-122"/>
                <a:cs typeface="Calibri" pitchFamily="34" charset="-120"/>
              </a:rPr>
              <a:t>Source : segmentation RFM Lumina &amp; Co, transactions au 30/06/2026</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40080"/>
          </a:xfrm>
          <a:prstGeom prst="rect">
            <a:avLst/>
          </a:prstGeom>
          <a:noFill/>
          <a:ln/>
        </p:spPr>
        <p:txBody>
          <a:bodyPr wrap="square" lIns="0" tIns="0" rIns="0" bIns="0" rtlCol="0" anchor="ctr"/>
          <a:lstStyle/>
          <a:p>
            <a:pPr indent="0" marL="0">
              <a:buNone/>
            </a:pPr>
            <a:r>
              <a:rPr lang="en-US" sz="3000" b="1" dirty="0">
                <a:solidFill>
                  <a:srgbClr val="3D1B3D"/>
                </a:solidFill>
                <a:latin typeface="Cambria" pitchFamily="34" charset="0"/>
                <a:ea typeface="Cambria" pitchFamily="34" charset="-122"/>
                <a:cs typeface="Cambria" pitchFamily="34" charset="-120"/>
              </a:rPr>
              <a:t>Notre recommandation</a:t>
            </a:r>
            <a:endParaRPr lang="en-US" sz="3000" dirty="0"/>
          </a:p>
        </p:txBody>
      </p:sp>
      <p:sp>
        <p:nvSpPr>
          <p:cNvPr id="3" name="Shape 1"/>
          <p:cNvSpPr/>
          <p:nvPr/>
        </p:nvSpPr>
        <p:spPr>
          <a:xfrm>
            <a:off x="548640" y="1188720"/>
            <a:ext cx="11094415" cy="685800"/>
          </a:xfrm>
          <a:prstGeom prst="roundRect">
            <a:avLst>
              <a:gd name="adj" fmla="val 10667"/>
            </a:avLst>
          </a:prstGeom>
          <a:solidFill>
            <a:srgbClr val="3D1B3D"/>
          </a:solidFill>
          <a:ln/>
        </p:spPr>
      </p:sp>
      <p:sp>
        <p:nvSpPr>
          <p:cNvPr id="4" name="Text 2"/>
          <p:cNvSpPr txBox="1"/>
          <p:nvPr/>
        </p:nvSpPr>
        <p:spPr>
          <a:xfrm>
            <a:off x="777240" y="1188720"/>
            <a:ext cx="10637215" cy="685800"/>
          </a:xfrm>
          <a:prstGeom prst="rect">
            <a:avLst/>
          </a:prstGeom>
          <a:noFill/>
          <a:ln/>
        </p:spPr>
        <p:txBody>
          <a:bodyPr wrap="square" lIns="0" tIns="0" rIns="0" bIns="0" rtlCol="0" anchor="ctr"/>
          <a:lstStyle/>
          <a:p>
            <a:pPr indent="0" marL="0">
              <a:buNone/>
            </a:pPr>
            <a:r>
              <a:rPr lang="en-US" sz="1200" b="1" dirty="0">
                <a:solidFill>
                  <a:srgbClr val="E8B4BC"/>
                </a:solidFill>
                <a:latin typeface="Calibri" pitchFamily="34" charset="0"/>
                <a:ea typeface="Calibri" pitchFamily="34" charset="-122"/>
                <a:cs typeface="Calibri" pitchFamily="34" charset="-120"/>
              </a:rPr>
              <a:t>CIBLE   </a:t>
            </a:r>
            <a:pPr indent="0" marL="0">
              <a:buNone/>
            </a:pPr>
            <a:r>
              <a:rPr lang="en-US" sz="1500" b="1" dirty="0">
                <a:solidFill>
                  <a:srgbClr val="FFFFFF"/>
                </a:solidFill>
                <a:latin typeface="Calibri" pitchFamily="34" charset="0"/>
                <a:ea typeface="Calibri" pitchFamily="34" charset="-122"/>
                <a:cs typeface="Calibri" pitchFamily="34" charset="-120"/>
              </a:rPr>
              <a:t>4 704 clients « à risque »  ·  9,6 % de la base  ·  8,1 % du CA net</a:t>
            </a:r>
            <a:endParaRPr lang="en-US" sz="1200" dirty="0"/>
          </a:p>
        </p:txBody>
      </p:sp>
      <p:sp>
        <p:nvSpPr>
          <p:cNvPr id="5" name="Shape 3"/>
          <p:cNvSpPr/>
          <p:nvPr/>
        </p:nvSpPr>
        <p:spPr>
          <a:xfrm>
            <a:off x="838048" y="2148840"/>
            <a:ext cx="3291840" cy="1737360"/>
          </a:xfrm>
          <a:prstGeom prst="roundRect">
            <a:avLst>
              <a:gd name="adj" fmla="val 4211"/>
            </a:avLst>
          </a:prstGeom>
          <a:solidFill>
            <a:srgbClr val="F7E8EA"/>
          </a:solidFill>
          <a:ln/>
        </p:spPr>
      </p:sp>
      <p:sp>
        <p:nvSpPr>
          <p:cNvPr id="6" name="Shape 4"/>
          <p:cNvSpPr/>
          <p:nvPr/>
        </p:nvSpPr>
        <p:spPr>
          <a:xfrm>
            <a:off x="1020928" y="2313432"/>
            <a:ext cx="868680" cy="365760"/>
          </a:xfrm>
          <a:prstGeom prst="roundRect">
            <a:avLst>
              <a:gd name="adj" fmla="val 50000"/>
            </a:avLst>
          </a:prstGeom>
          <a:solidFill>
            <a:srgbClr val="C9184A"/>
          </a:solidFill>
          <a:ln/>
        </p:spPr>
      </p:sp>
      <p:sp>
        <p:nvSpPr>
          <p:cNvPr id="7" name="Text 5"/>
          <p:cNvSpPr txBox="1"/>
          <p:nvPr/>
        </p:nvSpPr>
        <p:spPr>
          <a:xfrm>
            <a:off x="1020928" y="2313432"/>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J0</a:t>
            </a:r>
            <a:endParaRPr lang="en-US" sz="1200" dirty="0"/>
          </a:p>
        </p:txBody>
      </p:sp>
      <p:sp>
        <p:nvSpPr>
          <p:cNvPr id="8" name="Text 6"/>
          <p:cNvSpPr txBox="1"/>
          <p:nvPr/>
        </p:nvSpPr>
        <p:spPr>
          <a:xfrm>
            <a:off x="1020928" y="2770632"/>
            <a:ext cx="2926080" cy="365760"/>
          </a:xfrm>
          <a:prstGeom prst="rect">
            <a:avLst/>
          </a:prstGeom>
          <a:noFill/>
          <a:ln/>
        </p:spPr>
        <p:txBody>
          <a:bodyPr wrap="square" lIns="0" tIns="0" rIns="0" bIns="0" rtlCol="0" anchor="ctr"/>
          <a:lstStyle/>
          <a:p>
            <a:pPr indent="0" marL="0">
              <a:buNone/>
            </a:pPr>
            <a:r>
              <a:rPr lang="en-US" sz="1450" b="1" dirty="0">
                <a:solidFill>
                  <a:srgbClr val="3D1B3D"/>
                </a:solidFill>
                <a:latin typeface="Cambria" pitchFamily="34" charset="0"/>
                <a:ea typeface="Cambria" pitchFamily="34" charset="-122"/>
                <a:cs typeface="Cambria" pitchFamily="34" charset="-120"/>
              </a:rPr>
              <a:t>Rappel personnalisé</a:t>
            </a:r>
            <a:endParaRPr lang="en-US" sz="1450" dirty="0"/>
          </a:p>
        </p:txBody>
      </p:sp>
      <p:sp>
        <p:nvSpPr>
          <p:cNvPr id="9" name="Text 7"/>
          <p:cNvSpPr txBox="1"/>
          <p:nvPr/>
        </p:nvSpPr>
        <p:spPr>
          <a:xfrm>
            <a:off x="1020928" y="3136392"/>
            <a:ext cx="2926080" cy="685800"/>
          </a:xfrm>
          <a:prstGeom prst="rect">
            <a:avLst/>
          </a:prstGeom>
          <a:noFill/>
          <a:ln/>
        </p:spPr>
        <p:txBody>
          <a:bodyPr wrap="square" lIns="0" tIns="0" rIns="0" bIns="0" rtlCol="0" anchor="ctr"/>
          <a:lstStyle/>
          <a:p>
            <a:pPr indent="0" marL="0">
              <a:lnSpc>
                <a:spcPct val="115000"/>
              </a:lnSpc>
              <a:buNone/>
            </a:pPr>
            <a:r>
              <a:rPr lang="en-US" sz="1150" dirty="0">
                <a:solidFill>
                  <a:srgbClr val="3D1B3D"/>
                </a:solidFill>
                <a:latin typeface="Calibri" pitchFamily="34" charset="0"/>
                <a:ea typeface="Calibri" pitchFamily="34" charset="-122"/>
                <a:cs typeface="Calibri" pitchFamily="34" charset="-120"/>
              </a:rPr>
              <a:t>Email rappelant le produit ou la routine déjà appréciée du client.</a:t>
            </a:r>
            <a:endParaRPr lang="en-US" sz="1150" dirty="0"/>
          </a:p>
        </p:txBody>
      </p:sp>
      <p:sp>
        <p:nvSpPr>
          <p:cNvPr id="10" name="Text 8"/>
          <p:cNvSpPr txBox="1"/>
          <p:nvPr/>
        </p:nvSpPr>
        <p:spPr>
          <a:xfrm>
            <a:off x="4129888" y="2743200"/>
            <a:ext cx="320040" cy="548640"/>
          </a:xfrm>
          <a:prstGeom prst="rect">
            <a:avLst/>
          </a:prstGeom>
          <a:noFill/>
          <a:ln/>
        </p:spPr>
        <p:txBody>
          <a:bodyPr wrap="square" lIns="0" tIns="0" rIns="0" bIns="0" rtlCol="0" anchor="ctr"/>
          <a:lstStyle/>
          <a:p>
            <a:pPr algn="ctr" indent="0" marL="0">
              <a:buNone/>
            </a:pPr>
            <a:r>
              <a:rPr lang="en-US" sz="2000" b="1" dirty="0">
                <a:solidFill>
                  <a:srgbClr val="C9184A"/>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449928" y="2148840"/>
            <a:ext cx="3291840" cy="1737360"/>
          </a:xfrm>
          <a:prstGeom prst="roundRect">
            <a:avLst>
              <a:gd name="adj" fmla="val 4211"/>
            </a:avLst>
          </a:prstGeom>
          <a:solidFill>
            <a:srgbClr val="F7E8EA"/>
          </a:solidFill>
          <a:ln/>
        </p:spPr>
      </p:sp>
      <p:sp>
        <p:nvSpPr>
          <p:cNvPr id="12" name="Shape 10"/>
          <p:cNvSpPr/>
          <p:nvPr/>
        </p:nvSpPr>
        <p:spPr>
          <a:xfrm>
            <a:off x="4632808" y="2313432"/>
            <a:ext cx="868680" cy="365760"/>
          </a:xfrm>
          <a:prstGeom prst="roundRect">
            <a:avLst>
              <a:gd name="adj" fmla="val 50000"/>
            </a:avLst>
          </a:prstGeom>
          <a:solidFill>
            <a:srgbClr val="C9184A"/>
          </a:solidFill>
          <a:ln/>
        </p:spPr>
      </p:sp>
      <p:sp>
        <p:nvSpPr>
          <p:cNvPr id="13" name="Text 11"/>
          <p:cNvSpPr txBox="1"/>
          <p:nvPr/>
        </p:nvSpPr>
        <p:spPr>
          <a:xfrm>
            <a:off x="4632808" y="2313432"/>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J+7</a:t>
            </a:r>
            <a:endParaRPr lang="en-US" sz="1200" dirty="0"/>
          </a:p>
        </p:txBody>
      </p:sp>
      <p:sp>
        <p:nvSpPr>
          <p:cNvPr id="14" name="Text 12"/>
          <p:cNvSpPr txBox="1"/>
          <p:nvPr/>
        </p:nvSpPr>
        <p:spPr>
          <a:xfrm>
            <a:off x="4632808" y="2770632"/>
            <a:ext cx="2926080" cy="365760"/>
          </a:xfrm>
          <a:prstGeom prst="rect">
            <a:avLst/>
          </a:prstGeom>
          <a:noFill/>
          <a:ln/>
        </p:spPr>
        <p:txBody>
          <a:bodyPr wrap="square" lIns="0" tIns="0" rIns="0" bIns="0" rtlCol="0" anchor="ctr"/>
          <a:lstStyle/>
          <a:p>
            <a:pPr indent="0" marL="0">
              <a:buNone/>
            </a:pPr>
            <a:r>
              <a:rPr lang="en-US" sz="1450" b="1" dirty="0">
                <a:solidFill>
                  <a:srgbClr val="3D1B3D"/>
                </a:solidFill>
                <a:latin typeface="Cambria" pitchFamily="34" charset="0"/>
                <a:ea typeface="Cambria" pitchFamily="34" charset="-122"/>
                <a:cs typeface="Cambria" pitchFamily="34" charset="-120"/>
              </a:rPr>
              <a:t>Avantage limité</a:t>
            </a:r>
            <a:endParaRPr lang="en-US" sz="1450" dirty="0"/>
          </a:p>
        </p:txBody>
      </p:sp>
      <p:sp>
        <p:nvSpPr>
          <p:cNvPr id="15" name="Text 13"/>
          <p:cNvSpPr txBox="1"/>
          <p:nvPr/>
        </p:nvSpPr>
        <p:spPr>
          <a:xfrm>
            <a:off x="4632808" y="3136392"/>
            <a:ext cx="2926080" cy="685800"/>
          </a:xfrm>
          <a:prstGeom prst="rect">
            <a:avLst/>
          </a:prstGeom>
          <a:noFill/>
          <a:ln/>
        </p:spPr>
        <p:txBody>
          <a:bodyPr wrap="square" lIns="0" tIns="0" rIns="0" bIns="0" rtlCol="0" anchor="ctr"/>
          <a:lstStyle/>
          <a:p>
            <a:pPr indent="0" marL="0">
              <a:lnSpc>
                <a:spcPct val="115000"/>
              </a:lnSpc>
              <a:buNone/>
            </a:pPr>
            <a:r>
              <a:rPr lang="en-US" sz="1150" dirty="0">
                <a:solidFill>
                  <a:srgbClr val="3D1B3D"/>
                </a:solidFill>
                <a:latin typeface="Calibri" pitchFamily="34" charset="0"/>
                <a:ea typeface="Calibri" pitchFamily="34" charset="-122"/>
                <a:cs typeface="Calibri" pitchFamily="34" charset="-120"/>
              </a:rPr>
              <a:t>Si pas de réaction : offre ou service ponctuel, proportionné à la valeur passée.</a:t>
            </a:r>
            <a:endParaRPr lang="en-US" sz="1150" dirty="0"/>
          </a:p>
        </p:txBody>
      </p:sp>
      <p:sp>
        <p:nvSpPr>
          <p:cNvPr id="16" name="Text 14"/>
          <p:cNvSpPr txBox="1"/>
          <p:nvPr/>
        </p:nvSpPr>
        <p:spPr>
          <a:xfrm>
            <a:off x="7741768" y="2743200"/>
            <a:ext cx="320040" cy="548640"/>
          </a:xfrm>
          <a:prstGeom prst="rect">
            <a:avLst/>
          </a:prstGeom>
          <a:noFill/>
          <a:ln/>
        </p:spPr>
        <p:txBody>
          <a:bodyPr wrap="square" lIns="0" tIns="0" rIns="0" bIns="0" rtlCol="0" anchor="ctr"/>
          <a:lstStyle/>
          <a:p>
            <a:pPr algn="ctr" indent="0" marL="0">
              <a:buNone/>
            </a:pPr>
            <a:r>
              <a:rPr lang="en-US" sz="2000" b="1" dirty="0">
                <a:solidFill>
                  <a:srgbClr val="C9184A"/>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8061808" y="2148840"/>
            <a:ext cx="3291840" cy="1737360"/>
          </a:xfrm>
          <a:prstGeom prst="roundRect">
            <a:avLst>
              <a:gd name="adj" fmla="val 4211"/>
            </a:avLst>
          </a:prstGeom>
          <a:solidFill>
            <a:srgbClr val="F7E8EA"/>
          </a:solidFill>
          <a:ln/>
        </p:spPr>
      </p:sp>
      <p:sp>
        <p:nvSpPr>
          <p:cNvPr id="18" name="Shape 16"/>
          <p:cNvSpPr/>
          <p:nvPr/>
        </p:nvSpPr>
        <p:spPr>
          <a:xfrm>
            <a:off x="8244688" y="2313432"/>
            <a:ext cx="868680" cy="365760"/>
          </a:xfrm>
          <a:prstGeom prst="roundRect">
            <a:avLst>
              <a:gd name="adj" fmla="val 50000"/>
            </a:avLst>
          </a:prstGeom>
          <a:solidFill>
            <a:srgbClr val="C9184A"/>
          </a:solidFill>
          <a:ln/>
        </p:spPr>
      </p:sp>
      <p:sp>
        <p:nvSpPr>
          <p:cNvPr id="19" name="Text 17"/>
          <p:cNvSpPr txBox="1"/>
          <p:nvPr/>
        </p:nvSpPr>
        <p:spPr>
          <a:xfrm>
            <a:off x="8244688" y="2313432"/>
            <a:ext cx="868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STOP</a:t>
            </a:r>
            <a:endParaRPr lang="en-US" sz="1200" dirty="0"/>
          </a:p>
        </p:txBody>
      </p:sp>
      <p:sp>
        <p:nvSpPr>
          <p:cNvPr id="20" name="Text 18"/>
          <p:cNvSpPr txBox="1"/>
          <p:nvPr/>
        </p:nvSpPr>
        <p:spPr>
          <a:xfrm>
            <a:off x="8244688" y="2770632"/>
            <a:ext cx="2926080" cy="365760"/>
          </a:xfrm>
          <a:prstGeom prst="rect">
            <a:avLst/>
          </a:prstGeom>
          <a:noFill/>
          <a:ln/>
        </p:spPr>
        <p:txBody>
          <a:bodyPr wrap="square" lIns="0" tIns="0" rIns="0" bIns="0" rtlCol="0" anchor="ctr"/>
          <a:lstStyle/>
          <a:p>
            <a:pPr indent="0" marL="0">
              <a:buNone/>
            </a:pPr>
            <a:r>
              <a:rPr lang="en-US" sz="1450" b="1" dirty="0">
                <a:solidFill>
                  <a:srgbClr val="3D1B3D"/>
                </a:solidFill>
                <a:latin typeface="Cambria" pitchFamily="34" charset="0"/>
                <a:ea typeface="Cambria" pitchFamily="34" charset="-122"/>
                <a:cs typeface="Cambria" pitchFamily="34" charset="-120"/>
              </a:rPr>
              <a:t>Arrêt du contact</a:t>
            </a:r>
            <a:endParaRPr lang="en-US" sz="1450" dirty="0"/>
          </a:p>
        </p:txBody>
      </p:sp>
      <p:sp>
        <p:nvSpPr>
          <p:cNvPr id="21" name="Text 19"/>
          <p:cNvSpPr txBox="1"/>
          <p:nvPr/>
        </p:nvSpPr>
        <p:spPr>
          <a:xfrm>
            <a:off x="8244688" y="3136392"/>
            <a:ext cx="2926080" cy="685800"/>
          </a:xfrm>
          <a:prstGeom prst="rect">
            <a:avLst/>
          </a:prstGeom>
          <a:noFill/>
          <a:ln/>
        </p:spPr>
        <p:txBody>
          <a:bodyPr wrap="square" lIns="0" tIns="0" rIns="0" bIns="0" rtlCol="0" anchor="ctr"/>
          <a:lstStyle/>
          <a:p>
            <a:pPr indent="0" marL="0">
              <a:lnSpc>
                <a:spcPct val="115000"/>
              </a:lnSpc>
              <a:buNone/>
            </a:pPr>
            <a:r>
              <a:rPr lang="en-US" sz="1150" dirty="0">
                <a:solidFill>
                  <a:srgbClr val="3D1B3D"/>
                </a:solidFill>
                <a:latin typeface="Calibri" pitchFamily="34" charset="0"/>
                <a:ea typeface="Calibri" pitchFamily="34" charset="-122"/>
                <a:cs typeface="Calibri" pitchFamily="34" charset="-120"/>
              </a:rPr>
              <a:t>Après conversion ou opposition. Maximum 2 contacts sur 14 jours.</a:t>
            </a:r>
            <a:endParaRPr lang="en-US" sz="1150" dirty="0"/>
          </a:p>
        </p:txBody>
      </p:sp>
      <p:sp>
        <p:nvSpPr>
          <p:cNvPr id="22" name="Shape 20"/>
          <p:cNvSpPr/>
          <p:nvPr/>
        </p:nvSpPr>
        <p:spPr>
          <a:xfrm>
            <a:off x="548640" y="4251960"/>
            <a:ext cx="11094415" cy="1417320"/>
          </a:xfrm>
          <a:prstGeom prst="roundRect">
            <a:avLst>
              <a:gd name="adj" fmla="val 5161"/>
            </a:avLst>
          </a:prstGeom>
          <a:solidFill>
            <a:srgbClr val="FBF0F2"/>
          </a:solidFill>
          <a:ln w="12700">
            <a:solidFill>
              <a:srgbClr val="E8B4BC"/>
            </a:solidFill>
            <a:prstDash val="solid"/>
          </a:ln>
        </p:spPr>
      </p:sp>
      <p:sp>
        <p:nvSpPr>
          <p:cNvPr id="23" name="Text 21"/>
          <p:cNvSpPr txBox="1"/>
          <p:nvPr/>
        </p:nvSpPr>
        <p:spPr>
          <a:xfrm>
            <a:off x="777240" y="4389120"/>
            <a:ext cx="10637215" cy="777240"/>
          </a:xfrm>
          <a:prstGeom prst="rect">
            <a:avLst/>
          </a:prstGeom>
          <a:noFill/>
          <a:ln/>
        </p:spPr>
        <p:txBody>
          <a:bodyPr wrap="square" lIns="0" tIns="0" rIns="0" bIns="0" rtlCol="0" anchor="ctr"/>
          <a:lstStyle/>
          <a:p>
            <a:pPr indent="0" marL="0">
              <a:lnSpc>
                <a:spcPct val="120000"/>
              </a:lnSpc>
              <a:buNone/>
            </a:pPr>
            <a:r>
              <a:rPr lang="en-US" sz="1150" b="1" dirty="0">
                <a:solidFill>
                  <a:srgbClr val="C9184A"/>
                </a:solidFill>
                <a:latin typeface="Calibri" pitchFamily="34" charset="0"/>
                <a:ea typeface="Calibri" pitchFamily="34" charset="-122"/>
                <a:cs typeface="Calibri" pitchFamily="34" charset="-120"/>
              </a:rPr>
              <a:t>HYPOTHÈSE À TESTER   </a:t>
            </a:r>
            <a:pPr indent="0" marL="0">
              <a:lnSpc>
                <a:spcPct val="120000"/>
              </a:lnSpc>
              <a:buNone/>
            </a:pPr>
            <a:r>
              <a:rPr lang="en-US" sz="1300" dirty="0">
                <a:solidFill>
                  <a:srgbClr val="3D1B3D"/>
                </a:solidFill>
                <a:latin typeface="Calibri" pitchFamily="34" charset="0"/>
                <a:ea typeface="Calibri" pitchFamily="34" charset="-122"/>
                <a:cs typeface="Calibri" pitchFamily="34" charset="-120"/>
              </a:rPr>
              <a:t>Si on envoie un email de relance personnalisé aux clients à risque, alors une partie d'entre eux se réactive. Le RFM décrit un comportement passé : seul un test avec groupe témoin confirmera l'effet réel de l'email.</a:t>
            </a:r>
            <a:endParaRPr lang="en-US" sz="1150" dirty="0"/>
          </a:p>
        </p:txBody>
      </p:sp>
      <p:sp>
        <p:nvSpPr>
          <p:cNvPr id="24" name="Shape 22"/>
          <p:cNvSpPr/>
          <p:nvPr/>
        </p:nvSpPr>
        <p:spPr>
          <a:xfrm>
            <a:off x="777240" y="5166360"/>
            <a:ext cx="10637215" cy="0"/>
          </a:xfrm>
          <a:prstGeom prst="line">
            <a:avLst/>
          </a:prstGeom>
          <a:noFill/>
          <a:ln w="9525">
            <a:solidFill>
              <a:srgbClr val="E8B4BC"/>
            </a:solidFill>
            <a:prstDash val="solid"/>
          </a:ln>
        </p:spPr>
      </p:sp>
      <p:sp>
        <p:nvSpPr>
          <p:cNvPr id="25" name="Text 23"/>
          <p:cNvSpPr txBox="1"/>
          <p:nvPr/>
        </p:nvSpPr>
        <p:spPr>
          <a:xfrm>
            <a:off x="777240" y="5230368"/>
            <a:ext cx="10637215" cy="365760"/>
          </a:xfrm>
          <a:prstGeom prst="rect">
            <a:avLst/>
          </a:prstGeom>
          <a:noFill/>
          <a:ln/>
        </p:spPr>
        <p:txBody>
          <a:bodyPr wrap="square" lIns="0" tIns="0" rIns="0" bIns="0" rtlCol="0" anchor="ctr"/>
          <a:lstStyle/>
          <a:p>
            <a:pPr indent="0" marL="0">
              <a:buNone/>
            </a:pPr>
            <a:r>
              <a:rPr lang="en-US" sz="1150" b="1" dirty="0">
                <a:solidFill>
                  <a:srgbClr val="C9184A"/>
                </a:solidFill>
                <a:latin typeface="Calibri" pitchFamily="34" charset="0"/>
                <a:ea typeface="Calibri" pitchFamily="34" charset="-122"/>
                <a:cs typeface="Calibri" pitchFamily="34" charset="-120"/>
              </a:rPr>
              <a:t>KPI   </a:t>
            </a:r>
            <a:pPr indent="0" marL="0">
              <a:buNone/>
            </a:pPr>
            <a:r>
              <a:rPr lang="en-US" sz="1300" b="1" dirty="0">
                <a:solidFill>
                  <a:srgbClr val="3D1B3D"/>
                </a:solidFill>
                <a:latin typeface="Calibri" pitchFamily="34" charset="0"/>
                <a:ea typeface="Calibri" pitchFamily="34" charset="-122"/>
                <a:cs typeface="Calibri" pitchFamily="34" charset="-120"/>
              </a:rPr>
              <a:t>Taux de réactivation à 30 jours + marge récupérée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D1B3D"/>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Ce qu'on peut en attendre</a:t>
            </a:r>
            <a:endParaRPr lang="en-US" sz="3000" dirty="0"/>
          </a:p>
        </p:txBody>
      </p:sp>
      <p:sp>
        <p:nvSpPr>
          <p:cNvPr id="3" name="Text 1"/>
          <p:cNvSpPr txBox="1"/>
          <p:nvPr/>
        </p:nvSpPr>
        <p:spPr>
          <a:xfrm>
            <a:off x="548640" y="1417320"/>
            <a:ext cx="5669280" cy="1005840"/>
          </a:xfrm>
          <a:prstGeom prst="rect">
            <a:avLst/>
          </a:prstGeom>
          <a:noFill/>
          <a:ln/>
        </p:spPr>
        <p:txBody>
          <a:bodyPr wrap="square" lIns="0" tIns="0" rIns="0" bIns="0" rtlCol="0" anchor="ctr"/>
          <a:lstStyle/>
          <a:p>
            <a:pPr indent="0" marL="0">
              <a:buNone/>
            </a:pPr>
            <a:r>
              <a:rPr lang="en-US" sz="5200" b="1" dirty="0">
                <a:solidFill>
                  <a:srgbClr val="F2A6BB"/>
                </a:solidFill>
                <a:latin typeface="Cambria" pitchFamily="34" charset="0"/>
                <a:ea typeface="Cambria" pitchFamily="34" charset="-122"/>
                <a:cs typeface="Cambria" pitchFamily="34" charset="-120"/>
              </a:rPr>
              <a:t>≈ 167 000 €</a:t>
            </a:r>
            <a:endParaRPr lang="en-US" sz="5200" dirty="0"/>
          </a:p>
        </p:txBody>
      </p:sp>
      <p:sp>
        <p:nvSpPr>
          <p:cNvPr id="4" name="Text 2"/>
          <p:cNvSpPr txBox="1"/>
          <p:nvPr/>
        </p:nvSpPr>
        <p:spPr>
          <a:xfrm>
            <a:off x="548640" y="2423160"/>
            <a:ext cx="5669280" cy="914400"/>
          </a:xfrm>
          <a:prstGeom prst="rect">
            <a:avLst/>
          </a:prstGeom>
          <a:noFill/>
          <a:ln/>
        </p:spPr>
        <p:txBody>
          <a:bodyPr wrap="square" lIns="0" tIns="0" rIns="0" bIns="0" rtlCol="0" anchor="ctr"/>
          <a:lstStyle/>
          <a:p>
            <a:pPr indent="0" marL="0">
              <a:lnSpc>
                <a:spcPct val="120000"/>
              </a:lnSpc>
              <a:buNone/>
            </a:pPr>
            <a:r>
              <a:rPr lang="en-US" sz="1400" dirty="0">
                <a:solidFill>
                  <a:srgbClr val="E8B4BC"/>
                </a:solidFill>
                <a:latin typeface="Calibri" pitchFamily="34" charset="0"/>
                <a:ea typeface="Calibri" pitchFamily="34" charset="-122"/>
                <a:cs typeface="Calibri" pitchFamily="34" charset="-120"/>
              </a:rPr>
              <a:t>de CA potentiellement récupéré si 10 % des 4 704 clients à risque se réactivent, à leur valeur médiane historique (355 €).</a:t>
            </a:r>
            <a:endParaRPr lang="en-US" sz="1400" dirty="0"/>
          </a:p>
        </p:txBody>
      </p:sp>
      <p:sp>
        <p:nvSpPr>
          <p:cNvPr id="5" name="Text 3"/>
          <p:cNvSpPr txBox="1"/>
          <p:nvPr/>
        </p:nvSpPr>
        <p:spPr>
          <a:xfrm>
            <a:off x="548640" y="3291840"/>
            <a:ext cx="5669280" cy="548640"/>
          </a:xfrm>
          <a:prstGeom prst="rect">
            <a:avLst/>
          </a:prstGeom>
          <a:noFill/>
          <a:ln/>
        </p:spPr>
        <p:txBody>
          <a:bodyPr wrap="square" lIns="0" tIns="0" rIns="0" bIns="0" rtlCol="0" anchor="ctr"/>
          <a:lstStyle/>
          <a:p>
            <a:pPr indent="0" marL="0">
              <a:lnSpc>
                <a:spcPct val="115000"/>
              </a:lnSpc>
              <a:buNone/>
            </a:pPr>
            <a:r>
              <a:rPr lang="en-US" sz="1100" i="1" dirty="0">
                <a:solidFill>
                  <a:srgbClr val="B99AB2"/>
                </a:solidFill>
                <a:latin typeface="Calibri" pitchFamily="34" charset="0"/>
                <a:ea typeface="Calibri" pitchFamily="34" charset="-122"/>
                <a:cs typeface="Calibri" pitchFamily="34" charset="-120"/>
              </a:rPr>
              <a:t>Estimation illustrative pour cadrer l'enjeu — le taux réel de réactivation sera mesuré par le test, pas supposé.</a:t>
            </a:r>
            <a:endParaRPr lang="en-US" sz="1100" dirty="0"/>
          </a:p>
        </p:txBody>
      </p:sp>
      <p:sp>
        <p:nvSpPr>
          <p:cNvPr id="6" name="Shape 4"/>
          <p:cNvSpPr/>
          <p:nvPr/>
        </p:nvSpPr>
        <p:spPr>
          <a:xfrm>
            <a:off x="6492240" y="1417320"/>
            <a:ext cx="5150815" cy="2468880"/>
          </a:xfrm>
          <a:prstGeom prst="roundRect">
            <a:avLst>
              <a:gd name="adj" fmla="val 3704"/>
            </a:avLst>
          </a:prstGeom>
          <a:solidFill>
            <a:srgbClr val="5C3A5C"/>
          </a:solidFill>
          <a:ln/>
        </p:spPr>
      </p:sp>
      <p:sp>
        <p:nvSpPr>
          <p:cNvPr id="7" name="Text 5"/>
          <p:cNvSpPr txBox="1"/>
          <p:nvPr/>
        </p:nvSpPr>
        <p:spPr>
          <a:xfrm>
            <a:off x="6675120" y="1600200"/>
            <a:ext cx="4785055" cy="320040"/>
          </a:xfrm>
          <a:prstGeom prst="rect">
            <a:avLst/>
          </a:prstGeom>
          <a:noFill/>
          <a:ln/>
        </p:spPr>
        <p:txBody>
          <a:bodyPr wrap="square" lIns="0" tIns="0" rIns="0" bIns="0" rtlCol="0" anchor="ctr"/>
          <a:lstStyle/>
          <a:p>
            <a:pPr indent="0" marL="0">
              <a:buNone/>
            </a:pPr>
            <a:r>
              <a:rPr lang="en-US" sz="1150" b="1" spc="150" kern="0" dirty="0">
                <a:solidFill>
                  <a:srgbClr val="C9184A"/>
                </a:solidFill>
                <a:latin typeface="Calibri" pitchFamily="34" charset="0"/>
                <a:ea typeface="Calibri" pitchFamily="34" charset="-122"/>
                <a:cs typeface="Calibri" pitchFamily="34" charset="-120"/>
              </a:rPr>
              <a:t>DÉCISION DEMANDÉE</a:t>
            </a:r>
            <a:endParaRPr lang="en-US" sz="1150" dirty="0"/>
          </a:p>
        </p:txBody>
      </p:sp>
      <p:sp>
        <p:nvSpPr>
          <p:cNvPr id="8" name="Text 6"/>
          <p:cNvSpPr txBox="1"/>
          <p:nvPr/>
        </p:nvSpPr>
        <p:spPr>
          <a:xfrm>
            <a:off x="6675120" y="1965960"/>
            <a:ext cx="4785055" cy="1737360"/>
          </a:xfrm>
          <a:prstGeom prst="rect">
            <a:avLst/>
          </a:prstGeom>
          <a:noFill/>
          <a:ln/>
        </p:spPr>
        <p:txBody>
          <a:bodyPr wrap="square" lIns="0" tIns="0" rIns="0" bIns="0" rtlCol="0" anchor="ctr"/>
          <a:lstStyle/>
          <a:p>
            <a:pPr indent="0" marL="0">
              <a:lnSpc>
                <a:spcPct val="120000"/>
              </a:lnSpc>
              <a:buNone/>
            </a:pPr>
            <a:r>
              <a:rPr lang="en-US" sz="1650" b="1" dirty="0">
                <a:solidFill>
                  <a:srgbClr val="FFFFFF"/>
                </a:solidFill>
                <a:latin typeface="Cambria" pitchFamily="34" charset="0"/>
                <a:ea typeface="Cambria" pitchFamily="34" charset="-122"/>
                <a:cs typeface="Cambria" pitchFamily="34" charset="-120"/>
              </a:rPr>
              <a:t>Lancer un test A/B (groupe test vs groupe témoin) sur les 4 704 clients à risque, et mesurer le taux de réactivation à 30 jours avant toute généralisation.</a:t>
            </a:r>
            <a:endParaRPr lang="en-US" sz="1650" dirty="0"/>
          </a:p>
        </p:txBody>
      </p:sp>
      <p:sp>
        <p:nvSpPr>
          <p:cNvPr id="9" name="Shape 7"/>
          <p:cNvSpPr/>
          <p:nvPr/>
        </p:nvSpPr>
        <p:spPr>
          <a:xfrm>
            <a:off x="746608" y="4434840"/>
            <a:ext cx="2331720" cy="685800"/>
          </a:xfrm>
          <a:prstGeom prst="roundRect">
            <a:avLst>
              <a:gd name="adj" fmla="val 46667"/>
            </a:avLst>
          </a:prstGeom>
          <a:solidFill>
            <a:srgbClr val="5C3A5C"/>
          </a:solidFill>
          <a:ln/>
        </p:spPr>
      </p:sp>
      <p:sp>
        <p:nvSpPr>
          <p:cNvPr id="10" name="Text 8"/>
          <p:cNvSpPr txBox="1"/>
          <p:nvPr/>
        </p:nvSpPr>
        <p:spPr>
          <a:xfrm>
            <a:off x="746608" y="4434840"/>
            <a:ext cx="233172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Problème</a:t>
            </a:r>
            <a:endParaRPr lang="en-US" sz="1300" dirty="0"/>
          </a:p>
        </p:txBody>
      </p:sp>
      <p:sp>
        <p:nvSpPr>
          <p:cNvPr id="11" name="Text 9"/>
          <p:cNvSpPr txBox="1"/>
          <p:nvPr/>
        </p:nvSpPr>
        <p:spPr>
          <a:xfrm>
            <a:off x="3078328" y="4434840"/>
            <a:ext cx="457200" cy="685800"/>
          </a:xfrm>
          <a:prstGeom prst="rect">
            <a:avLst/>
          </a:prstGeom>
          <a:noFill/>
          <a:ln/>
        </p:spPr>
        <p:txBody>
          <a:bodyPr wrap="square" lIns="0" tIns="0" rIns="0" bIns="0" rtlCol="0" anchor="ctr"/>
          <a:lstStyle/>
          <a:p>
            <a:pPr algn="ctr" indent="0" marL="0">
              <a:buNone/>
            </a:pPr>
            <a:r>
              <a:rPr lang="en-US" sz="1800" b="1" dirty="0">
                <a:solidFill>
                  <a:srgbClr val="E8B4BC"/>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3535528" y="4434840"/>
            <a:ext cx="2331720" cy="685800"/>
          </a:xfrm>
          <a:prstGeom prst="roundRect">
            <a:avLst>
              <a:gd name="adj" fmla="val 46667"/>
            </a:avLst>
          </a:prstGeom>
          <a:solidFill>
            <a:srgbClr val="5C3A5C"/>
          </a:solidFill>
          <a:ln/>
        </p:spPr>
      </p:sp>
      <p:sp>
        <p:nvSpPr>
          <p:cNvPr id="13" name="Text 11"/>
          <p:cNvSpPr txBox="1"/>
          <p:nvPr/>
        </p:nvSpPr>
        <p:spPr>
          <a:xfrm>
            <a:off x="3535528" y="4434840"/>
            <a:ext cx="233172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Preuve</a:t>
            </a:r>
            <a:endParaRPr lang="en-US" sz="1300" dirty="0"/>
          </a:p>
        </p:txBody>
      </p:sp>
      <p:sp>
        <p:nvSpPr>
          <p:cNvPr id="14" name="Text 12"/>
          <p:cNvSpPr txBox="1"/>
          <p:nvPr/>
        </p:nvSpPr>
        <p:spPr>
          <a:xfrm>
            <a:off x="5867248" y="4434840"/>
            <a:ext cx="457200" cy="685800"/>
          </a:xfrm>
          <a:prstGeom prst="rect">
            <a:avLst/>
          </a:prstGeom>
          <a:noFill/>
          <a:ln/>
        </p:spPr>
        <p:txBody>
          <a:bodyPr wrap="square" lIns="0" tIns="0" rIns="0" bIns="0" rtlCol="0" anchor="ctr"/>
          <a:lstStyle/>
          <a:p>
            <a:pPr algn="ctr" indent="0" marL="0">
              <a:buNone/>
            </a:pPr>
            <a:r>
              <a:rPr lang="en-US" sz="1800" b="1" dirty="0">
                <a:solidFill>
                  <a:srgbClr val="E8B4BC"/>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6324448" y="4434840"/>
            <a:ext cx="2331720" cy="685800"/>
          </a:xfrm>
          <a:prstGeom prst="roundRect">
            <a:avLst>
              <a:gd name="adj" fmla="val 46667"/>
            </a:avLst>
          </a:prstGeom>
          <a:solidFill>
            <a:srgbClr val="5C3A5C"/>
          </a:solidFill>
          <a:ln/>
        </p:spPr>
      </p:sp>
      <p:sp>
        <p:nvSpPr>
          <p:cNvPr id="16" name="Text 14"/>
          <p:cNvSpPr txBox="1"/>
          <p:nvPr/>
        </p:nvSpPr>
        <p:spPr>
          <a:xfrm>
            <a:off x="6324448" y="4434840"/>
            <a:ext cx="233172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Décision</a:t>
            </a:r>
            <a:endParaRPr lang="en-US" sz="1300" dirty="0"/>
          </a:p>
        </p:txBody>
      </p:sp>
      <p:sp>
        <p:nvSpPr>
          <p:cNvPr id="17" name="Text 15"/>
          <p:cNvSpPr txBox="1"/>
          <p:nvPr/>
        </p:nvSpPr>
        <p:spPr>
          <a:xfrm>
            <a:off x="8656168" y="4434840"/>
            <a:ext cx="457200" cy="685800"/>
          </a:xfrm>
          <a:prstGeom prst="rect">
            <a:avLst/>
          </a:prstGeom>
          <a:noFill/>
          <a:ln/>
        </p:spPr>
        <p:txBody>
          <a:bodyPr wrap="square" lIns="0" tIns="0" rIns="0" bIns="0" rtlCol="0" anchor="ctr"/>
          <a:lstStyle/>
          <a:p>
            <a:pPr algn="ctr" indent="0" marL="0">
              <a:buNone/>
            </a:pPr>
            <a:r>
              <a:rPr lang="en-US" sz="1800" b="1" dirty="0">
                <a:solidFill>
                  <a:srgbClr val="E8B4BC"/>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9113368" y="4434840"/>
            <a:ext cx="2331720" cy="685800"/>
          </a:xfrm>
          <a:prstGeom prst="roundRect">
            <a:avLst>
              <a:gd name="adj" fmla="val 46667"/>
            </a:avLst>
          </a:prstGeom>
          <a:solidFill>
            <a:srgbClr val="C9184A"/>
          </a:solidFill>
          <a:ln/>
        </p:spPr>
      </p:sp>
      <p:sp>
        <p:nvSpPr>
          <p:cNvPr id="19" name="Text 17"/>
          <p:cNvSpPr txBox="1"/>
          <p:nvPr/>
        </p:nvSpPr>
        <p:spPr>
          <a:xfrm>
            <a:off x="9113368" y="4434840"/>
            <a:ext cx="233172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Résultat</a:t>
            </a:r>
            <a:endParaRPr lang="en-US" sz="1300" dirty="0"/>
          </a:p>
        </p:txBody>
      </p:sp>
      <p:sp>
        <p:nvSpPr>
          <p:cNvPr id="20" name="Text 18"/>
          <p:cNvSpPr txBox="1"/>
          <p:nvPr/>
        </p:nvSpPr>
        <p:spPr>
          <a:xfrm>
            <a:off x="548640" y="6355080"/>
            <a:ext cx="11094415" cy="274320"/>
          </a:xfrm>
          <a:prstGeom prst="rect">
            <a:avLst/>
          </a:prstGeom>
          <a:noFill/>
          <a:ln/>
        </p:spPr>
        <p:txBody>
          <a:bodyPr wrap="square" lIns="0" tIns="0" rIns="0" bIns="0" rtlCol="0" anchor="ctr"/>
          <a:lstStyle/>
          <a:p>
            <a:pPr indent="0" marL="0">
              <a:buNone/>
            </a:pPr>
            <a:r>
              <a:rPr lang="en-US" sz="950" dirty="0">
                <a:solidFill>
                  <a:srgbClr val="B99AB2"/>
                </a:solidFill>
                <a:latin typeface="Calibri" pitchFamily="34" charset="0"/>
                <a:ea typeface="Calibri" pitchFamily="34" charset="-122"/>
                <a:cs typeface="Calibri" pitchFamily="34" charset="-120"/>
              </a:rPr>
              <a:t>Lumina &amp; Co  ·  Data Storytelling  ·  Segment « À risque »</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Lumina and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Reactiver les clients a risque</dc:title>
  <dc:subject>PptxGenJS Presentation</dc:subject>
  <dc:creator>Lumina and Co</dc:creator>
  <cp:lastModifiedBy>Lumina and Co</cp:lastModifiedBy>
  <cp:revision>1</cp:revision>
  <dcterms:created xsi:type="dcterms:W3CDTF">2026-09-10T12:46:34Z</dcterms:created>
  <dcterms:modified xsi:type="dcterms:W3CDTF">2026-09-10T12:46:34Z</dcterms:modified>
</cp:coreProperties>
</file>